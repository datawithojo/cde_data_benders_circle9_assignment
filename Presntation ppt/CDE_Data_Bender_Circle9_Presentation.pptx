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64" r:id="rId5"/>
    <p:sldId id="265" r:id="rId6"/>
    <p:sldId id="266" r:id="rId7"/>
    <p:sldId id="269" r:id="rId8"/>
    <p:sldId id="272" r:id="rId9"/>
    <p:sldId id="273" r:id="rId10"/>
    <p:sldId id="274" r:id="rId11"/>
    <p:sldId id="267" r:id="rId12"/>
    <p:sldId id="270" r:id="rId13"/>
    <p:sldId id="271" r:id="rId14"/>
    <p:sldId id="275" r:id="rId15"/>
    <p:sldId id="276" r:id="rId16"/>
    <p:sldId id="268" r:id="rId17"/>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46" d="100"/>
          <a:sy n="46" d="100"/>
        </p:scale>
        <p:origin x="75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4026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36FFA-421E-FAD5-5219-B0FD04AA5C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B9DE8F-1AE0-72BE-3032-7F7B7CF799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914F4B-5175-B02B-884C-29C2F5739F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894768-1649-45B9-50DA-FF7AAE65328D}"/>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1694200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0DE60-D059-214B-8685-8D542D1B26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AA127B-6206-D3A7-57E1-04B0F9D651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002017-8DB4-F2EC-65B9-530501E617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592AA2-C490-AF60-7837-AA2A0F07A9E4}"/>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2497348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78984-D4A8-A866-38F4-C391B9864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E20064-9FB0-461C-91A1-AB5D15C500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9C057D-9190-A51A-65B7-E1CC42CDD0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2B9F5D-6A3E-4222-057D-A8A1A659635D}"/>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1365393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87120-E466-F392-15CF-5D87137D75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3F9848-058D-0177-CB73-074E2FB188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FCE92D-72D0-9C35-81F3-89D958907D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5D1763-0C7E-D24D-7DA3-59B1AF88868B}"/>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262769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0EC33-F3CD-476A-9ACC-F04D5D1EAD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ECA6CA-F341-E466-43A9-40C272883A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ECEA6B-C020-C1BE-3D32-F6AAF32A564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91C586-D897-D6F5-D8DC-9E989A93ACFB}"/>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7618177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7942E-2C02-844F-3FDE-4C2454CD7C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4774E1-EE2A-0CEC-997E-5E2AB69A3C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D3F534-2C83-5972-6BD4-00D5CAB618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C2EBE2-CED1-F2F9-C205-A9FFD1DCAB9B}"/>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6997389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D8E14-E508-7B80-B4EF-E7A1BD30A9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106ED5-69E0-BADC-DC67-356A97A615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8B66FF-AAED-C331-2535-CAE52B5614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CA58AA-45DE-BC32-8D24-34830B6D756C}"/>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1175237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801A9-B077-B31A-A5E1-8D77C1BAE8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6FA879-845C-0C53-9F39-B265695043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6F6C36-A7C2-0FF2-D7D9-D38AA82F2B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983EBF-792B-DB52-03AA-8310E5F14885}"/>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3984857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89DD9-AE61-02AD-0387-58A7F88995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890F2C-ECB8-FD3A-EEA8-9DAE4850E5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E51F8B-4566-88F9-BD13-B64F96963F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F62320-9E18-CDAE-297F-134CFA57D29A}"/>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0663759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0FCA7-645E-E359-774B-8ECF2E7E57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1BB16A-FCC9-DF6D-A223-6963D2F4E2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827A9F-5122-AD1B-C82D-19AD4621F8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F85347-583F-EC0B-1C4D-4BF704236815}"/>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6481090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2F92B-3703-0707-65F1-0A64FB6BA0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F28C0E-5FFE-11E1-6A52-E8E3334158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BAB7BC-7B2E-ECBD-C9CD-39A929081C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578200-62BE-DAF5-E246-3AFBE5BE5229}"/>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3628291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57D48-B3C2-9F2D-9F3D-49AF578252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18F076-A7E8-F85C-B821-BDF4A70B28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AD8668-F19D-EC45-6739-10D16FE286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84C639-BE29-C9FA-31EE-3B5C6440874F}"/>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9943435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D6CF3-FD11-7934-D3BD-476A9D65B9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F497E8-1AAB-0F6E-4388-0AB5CFADA1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38EAAE-7079-EF3F-6FB8-C1D6832612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BFB147-8965-8ABA-FF5D-7BC4C3FE1C07}"/>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9009200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7AF2"/>
        </a:solidFill>
        <a:effectLst/>
      </p:bgPr>
    </p:bg>
    <p:spTree>
      <p:nvGrpSpPr>
        <p:cNvPr id="1" name=""/>
        <p:cNvGrpSpPr/>
        <p:nvPr/>
      </p:nvGrpSpPr>
      <p:grpSpPr>
        <a:xfrm>
          <a:off x="0" y="0"/>
          <a:ext cx="0" cy="0"/>
          <a:chOff x="0" y="0"/>
          <a:chExt cx="0" cy="0"/>
        </a:xfrm>
      </p:grpSpPr>
      <p:pic>
        <p:nvPicPr>
          <p:cNvPr id="4" name="Group 111" descr="preencoded.png"/>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944369" y="92826"/>
            <a:ext cx="6345427" cy="10119082"/>
          </a:xfrm>
          <a:prstGeom prst="rect">
            <a:avLst/>
          </a:prstGeom>
        </p:spPr>
      </p:pic>
      <p:sp>
        <p:nvSpPr>
          <p:cNvPr id="5" name="Solving Longevity"/>
          <p:cNvSpPr/>
          <p:nvPr/>
        </p:nvSpPr>
        <p:spPr>
          <a:xfrm rot="-600">
            <a:off x="1145012" y="655745"/>
            <a:ext cx="15655516" cy="4173568"/>
          </a:xfrm>
          <a:prstGeom prst="rect">
            <a:avLst/>
          </a:prstGeom>
          <a:noFill/>
          <a:ln/>
        </p:spPr>
        <p:txBody>
          <a:bodyPr wrap="square" lIns="0" tIns="0" rIns="0" bIns="0" rtlCol="0" anchor="ctr"/>
          <a:lstStyle/>
          <a:p>
            <a:pPr marL="0" indent="0" algn="l">
              <a:lnSpc>
                <a:spcPts val="16425"/>
              </a:lnSpc>
              <a:buNone/>
            </a:pPr>
            <a:r>
              <a:rPr lang="en-US" sz="12000" dirty="0">
                <a:solidFill>
                  <a:srgbClr val="FFFFFF"/>
                </a:solidFill>
                <a:latin typeface="Avenir Next Medium" pitchFamily="34" charset="0"/>
                <a:ea typeface="Avenir Next Medium" pitchFamily="34" charset="-122"/>
                <a:cs typeface="Avenir Next Medium" pitchFamily="34" charset="-120"/>
              </a:rPr>
              <a:t>Posey Performance Analysis</a:t>
            </a:r>
            <a:endParaRPr lang="en-US" sz="12000" dirty="0"/>
          </a:p>
        </p:txBody>
      </p:sp>
      <p:sp>
        <p:nvSpPr>
          <p:cNvPr id="6" name="Subheading"/>
          <p:cNvSpPr/>
          <p:nvPr/>
        </p:nvSpPr>
        <p:spPr>
          <a:xfrm rot="-600">
            <a:off x="1144700" y="4850327"/>
            <a:ext cx="6021616" cy="605992"/>
          </a:xfrm>
          <a:prstGeom prst="rect">
            <a:avLst/>
          </a:prstGeom>
          <a:noFill/>
          <a:ln/>
        </p:spPr>
        <p:txBody>
          <a:bodyPr wrap="square" lIns="0" tIns="0" rIns="0" bIns="0" rtlCol="0" anchor="ctr"/>
          <a:lstStyle/>
          <a:p>
            <a:pPr marL="0" indent="0" algn="l">
              <a:lnSpc>
                <a:spcPts val="3300"/>
              </a:lnSpc>
              <a:buNone/>
            </a:pPr>
            <a:r>
              <a:rPr lang="en-US" sz="3200" dirty="0">
                <a:solidFill>
                  <a:srgbClr val="FFFFFF"/>
                </a:solidFill>
                <a:latin typeface="Avenir Next Regular" pitchFamily="34" charset="0"/>
                <a:ea typeface="Avenir Next Regular" pitchFamily="34" charset="-122"/>
                <a:cs typeface="Avenir Next Regular" pitchFamily="34" charset="-120"/>
              </a:rPr>
              <a:t>PRESENTED BY: DATA BENDERS</a:t>
            </a:r>
            <a:endParaRPr lang="en-US" sz="3200" dirty="0"/>
          </a:p>
        </p:txBody>
      </p:sp>
      <p:sp>
        <p:nvSpPr>
          <p:cNvPr id="32" name="Subheading">
            <a:extLst>
              <a:ext uri="{FF2B5EF4-FFF2-40B4-BE49-F238E27FC236}">
                <a16:creationId xmlns:a16="http://schemas.microsoft.com/office/drawing/2014/main" id="{B71F030F-99A9-869A-9027-6D0671779906}"/>
              </a:ext>
            </a:extLst>
          </p:cNvPr>
          <p:cNvSpPr/>
          <p:nvPr/>
        </p:nvSpPr>
        <p:spPr>
          <a:xfrm rot="-600">
            <a:off x="1906685" y="5657975"/>
            <a:ext cx="5448373" cy="420026"/>
          </a:xfrm>
          <a:prstGeom prst="rect">
            <a:avLst/>
          </a:prstGeom>
          <a:noFill/>
          <a:ln/>
        </p:spPr>
        <p:txBody>
          <a:bodyPr wrap="square" lIns="0" tIns="0" rIns="0" bIns="0" rtlCol="0" anchor="ctr"/>
          <a:lstStyle/>
          <a:p>
            <a:pPr marL="0" indent="0" algn="l">
              <a:lnSpc>
                <a:spcPts val="3300"/>
              </a:lnSpc>
              <a:buNone/>
            </a:pPr>
            <a:r>
              <a:rPr lang="en-US" sz="2400" dirty="0">
                <a:solidFill>
                  <a:srgbClr val="FFFFFF"/>
                </a:solidFill>
                <a:latin typeface="Avenir Next Regular" pitchFamily="34" charset="0"/>
                <a:ea typeface="Avenir Next Regular" pitchFamily="34" charset="-122"/>
                <a:cs typeface="Avenir Next Regular" pitchFamily="34" charset="-120"/>
              </a:rPr>
              <a:t>OLUWAKAYODE OJO</a:t>
            </a:r>
            <a:endParaRPr lang="en-US" sz="2400" dirty="0"/>
          </a:p>
        </p:txBody>
      </p:sp>
      <p:sp>
        <p:nvSpPr>
          <p:cNvPr id="33" name="Subheading">
            <a:extLst>
              <a:ext uri="{FF2B5EF4-FFF2-40B4-BE49-F238E27FC236}">
                <a16:creationId xmlns:a16="http://schemas.microsoft.com/office/drawing/2014/main" id="{16FE2BFD-D1A5-91AB-70DE-89F28483AADF}"/>
              </a:ext>
            </a:extLst>
          </p:cNvPr>
          <p:cNvSpPr/>
          <p:nvPr/>
        </p:nvSpPr>
        <p:spPr>
          <a:xfrm rot="-600">
            <a:off x="1906685" y="6328260"/>
            <a:ext cx="5448373" cy="420026"/>
          </a:xfrm>
          <a:prstGeom prst="rect">
            <a:avLst/>
          </a:prstGeom>
          <a:noFill/>
          <a:ln/>
        </p:spPr>
        <p:txBody>
          <a:bodyPr wrap="square" lIns="0" tIns="0" rIns="0" bIns="0" rtlCol="0" anchor="ctr"/>
          <a:lstStyle/>
          <a:p>
            <a:pPr marL="0" indent="0" algn="l">
              <a:lnSpc>
                <a:spcPts val="3300"/>
              </a:lnSpc>
              <a:buNone/>
            </a:pPr>
            <a:r>
              <a:rPr lang="en-US" sz="2400" dirty="0">
                <a:solidFill>
                  <a:srgbClr val="FFFFFF"/>
                </a:solidFill>
                <a:latin typeface="Avenir Next Regular" pitchFamily="34" charset="0"/>
                <a:ea typeface="Avenir Next Regular" pitchFamily="34" charset="-122"/>
              </a:rPr>
              <a:t>LEWIS SAWE</a:t>
            </a:r>
            <a:endParaRPr lang="en-US" sz="2400" dirty="0"/>
          </a:p>
        </p:txBody>
      </p:sp>
      <p:sp>
        <p:nvSpPr>
          <p:cNvPr id="34" name="Subheading">
            <a:extLst>
              <a:ext uri="{FF2B5EF4-FFF2-40B4-BE49-F238E27FC236}">
                <a16:creationId xmlns:a16="http://schemas.microsoft.com/office/drawing/2014/main" id="{367D27E4-E907-03F2-206A-3B18AD510D34}"/>
              </a:ext>
            </a:extLst>
          </p:cNvPr>
          <p:cNvSpPr/>
          <p:nvPr/>
        </p:nvSpPr>
        <p:spPr>
          <a:xfrm rot="-600">
            <a:off x="1906685" y="7026292"/>
            <a:ext cx="5448373" cy="420026"/>
          </a:xfrm>
          <a:prstGeom prst="rect">
            <a:avLst/>
          </a:prstGeom>
          <a:noFill/>
          <a:ln/>
        </p:spPr>
        <p:txBody>
          <a:bodyPr wrap="square" lIns="0" tIns="0" rIns="0" bIns="0" rtlCol="0" anchor="ctr"/>
          <a:lstStyle/>
          <a:p>
            <a:pPr marL="0" indent="0" algn="l">
              <a:lnSpc>
                <a:spcPts val="3300"/>
              </a:lnSpc>
              <a:buNone/>
            </a:pPr>
            <a:r>
              <a:rPr lang="en-US" sz="2400" dirty="0">
                <a:solidFill>
                  <a:srgbClr val="FFFFFF"/>
                </a:solidFill>
                <a:latin typeface="Avenir Next Regular" pitchFamily="34" charset="0"/>
                <a:ea typeface="Avenir Next Regular" pitchFamily="34" charset="-122"/>
                <a:cs typeface="Avenir Next Regular" pitchFamily="34" charset="-120"/>
              </a:rPr>
              <a:t>JULIUS SAMI ALHERI</a:t>
            </a:r>
            <a:endParaRPr lang="en-US" sz="2400" dirty="0"/>
          </a:p>
        </p:txBody>
      </p:sp>
      <p:sp>
        <p:nvSpPr>
          <p:cNvPr id="35" name="Subheading">
            <a:extLst>
              <a:ext uri="{FF2B5EF4-FFF2-40B4-BE49-F238E27FC236}">
                <a16:creationId xmlns:a16="http://schemas.microsoft.com/office/drawing/2014/main" id="{80B29A3D-9922-636B-2328-F724DE34127F}"/>
              </a:ext>
            </a:extLst>
          </p:cNvPr>
          <p:cNvSpPr/>
          <p:nvPr/>
        </p:nvSpPr>
        <p:spPr>
          <a:xfrm rot="-600">
            <a:off x="1906683" y="7840498"/>
            <a:ext cx="5448373" cy="420026"/>
          </a:xfrm>
          <a:prstGeom prst="rect">
            <a:avLst/>
          </a:prstGeom>
          <a:noFill/>
          <a:ln/>
        </p:spPr>
        <p:txBody>
          <a:bodyPr wrap="square" lIns="0" tIns="0" rIns="0" bIns="0" rtlCol="0" anchor="ctr"/>
          <a:lstStyle/>
          <a:p>
            <a:pPr marL="0" indent="0" algn="l">
              <a:lnSpc>
                <a:spcPts val="3300"/>
              </a:lnSpc>
              <a:buNone/>
            </a:pPr>
            <a:r>
              <a:rPr lang="en-US" sz="2400" dirty="0">
                <a:solidFill>
                  <a:srgbClr val="FFFFFF"/>
                </a:solidFill>
                <a:latin typeface="Avenir Next Regular" pitchFamily="34" charset="0"/>
                <a:ea typeface="Avenir Next Regular" pitchFamily="34" charset="-122"/>
              </a:rPr>
              <a:t>KENECHUKWU JANE IBEZIM</a:t>
            </a:r>
            <a:endParaRPr lang="en-US" sz="2400" dirty="0"/>
          </a:p>
        </p:txBody>
      </p:sp>
      <p:sp>
        <p:nvSpPr>
          <p:cNvPr id="36" name="Subheading">
            <a:extLst>
              <a:ext uri="{FF2B5EF4-FFF2-40B4-BE49-F238E27FC236}">
                <a16:creationId xmlns:a16="http://schemas.microsoft.com/office/drawing/2014/main" id="{BB86B285-2EC5-8C46-4FEC-AFFA399D1D15}"/>
              </a:ext>
            </a:extLst>
          </p:cNvPr>
          <p:cNvSpPr/>
          <p:nvPr/>
        </p:nvSpPr>
        <p:spPr>
          <a:xfrm rot="-600">
            <a:off x="1906683" y="8566276"/>
            <a:ext cx="5448373" cy="420026"/>
          </a:xfrm>
          <a:prstGeom prst="rect">
            <a:avLst/>
          </a:prstGeom>
          <a:noFill/>
          <a:ln/>
        </p:spPr>
        <p:txBody>
          <a:bodyPr wrap="square" lIns="0" tIns="0" rIns="0" bIns="0" rtlCol="0" anchor="ctr"/>
          <a:lstStyle/>
          <a:p>
            <a:pPr marL="0" indent="0" algn="l">
              <a:lnSpc>
                <a:spcPts val="3300"/>
              </a:lnSpc>
              <a:buNone/>
            </a:pPr>
            <a:r>
              <a:rPr lang="en-US" sz="2400" dirty="0">
                <a:solidFill>
                  <a:srgbClr val="FFFFFF"/>
                </a:solidFill>
                <a:latin typeface="Avenir Next Regular" pitchFamily="34" charset="0"/>
                <a:ea typeface="Avenir Next Regular" pitchFamily="34" charset="-122"/>
              </a:rPr>
              <a:t>ADESAYO LABAEKA</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10" name="name_02"/>
          <p:cNvSpPr/>
          <p:nvPr/>
        </p:nvSpPr>
        <p:spPr>
          <a:xfrm rot="-600">
            <a:off x="276454" y="9683928"/>
            <a:ext cx="2615601" cy="610326"/>
          </a:xfrm>
          <a:prstGeom prst="rect">
            <a:avLst/>
          </a:prstGeom>
          <a:noFill/>
          <a:ln/>
        </p:spPr>
        <p:txBody>
          <a:bodyPr wrap="square" lIns="0" tIns="0" rIns="0" bIns="0" rtlCol="0" anchor="t"/>
          <a:lstStyle/>
          <a:p>
            <a:pPr marL="0" indent="0" algn="ctr">
              <a:lnSpc>
                <a:spcPts val="3600"/>
              </a:lnSpc>
              <a:buNone/>
            </a:pPr>
            <a:r>
              <a:rPr lang="en-US" sz="2400" kern="0" spc="-75" dirty="0">
                <a:solidFill>
                  <a:srgbClr val="007AF2"/>
                </a:solidFill>
                <a:latin typeface="Poppins Medium" pitchFamily="34" charset="0"/>
                <a:cs typeface="Poppins Medium" pitchFamily="34" charset="-120"/>
              </a:rPr>
              <a:t>PARCH &amp; POSEY</a:t>
            </a:r>
            <a:endParaRPr lang="en-US" sz="2400" dirty="0"/>
          </a:p>
        </p:txBody>
      </p:sp>
      <p:sp>
        <p:nvSpPr>
          <p:cNvPr id="11" name="Freeform 6">
            <a:extLst>
              <a:ext uri="{FF2B5EF4-FFF2-40B4-BE49-F238E27FC236}">
                <a16:creationId xmlns:a16="http://schemas.microsoft.com/office/drawing/2014/main" id="{E2077DC7-8667-7D0E-1148-3F4BABB65535}"/>
              </a:ext>
            </a:extLst>
          </p:cNvPr>
          <p:cNvSpPr/>
          <p:nvPr/>
        </p:nvSpPr>
        <p:spPr>
          <a:xfrm>
            <a:off x="11568223" y="0"/>
            <a:ext cx="6719777" cy="10287000"/>
          </a:xfrm>
          <a:custGeom>
            <a:avLst/>
            <a:gdLst/>
            <a:ahLst/>
            <a:cxnLst/>
            <a:rect l="l" t="t" r="r" b="b"/>
            <a:pathLst>
              <a:path w="19654883" h="13119635">
                <a:moveTo>
                  <a:pt x="0" y="0"/>
                </a:moveTo>
                <a:lnTo>
                  <a:pt x="19654883" y="0"/>
                </a:lnTo>
                <a:lnTo>
                  <a:pt x="19654883" y="13119635"/>
                </a:lnTo>
                <a:lnTo>
                  <a:pt x="0" y="13119635"/>
                </a:lnTo>
                <a:lnTo>
                  <a:pt x="0" y="0"/>
                </a:lnTo>
                <a:close/>
              </a:path>
            </a:pathLst>
          </a:custGeom>
          <a:blipFill>
            <a:blip r:embed="rId3"/>
            <a:stretch>
              <a:fillRect l="-119304"/>
            </a:stretch>
          </a:blipFill>
        </p:spPr>
        <p:txBody>
          <a:bodyPr/>
          <a:lstStyle/>
          <a:p>
            <a:endParaRPr lang="en-US"/>
          </a:p>
        </p:txBody>
      </p:sp>
      <p:sp>
        <p:nvSpPr>
          <p:cNvPr id="13" name="TextBox 6">
            <a:extLst>
              <a:ext uri="{FF2B5EF4-FFF2-40B4-BE49-F238E27FC236}">
                <a16:creationId xmlns:a16="http://schemas.microsoft.com/office/drawing/2014/main" id="{525027FD-0CA8-5461-8402-96250BD2D0AC}"/>
              </a:ext>
            </a:extLst>
          </p:cNvPr>
          <p:cNvSpPr txBox="1"/>
          <p:nvPr/>
        </p:nvSpPr>
        <p:spPr>
          <a:xfrm>
            <a:off x="0" y="290734"/>
            <a:ext cx="11568223" cy="815052"/>
          </a:xfrm>
          <a:prstGeom prst="rect">
            <a:avLst/>
          </a:prstGeom>
          <a:noFill/>
          <a:ln/>
        </p:spPr>
        <p:txBody>
          <a:bodyPr wrap="square" lIns="0" tIns="0" rIns="0" bIns="0" rtlCol="0" anchor="t"/>
          <a:lstStyle>
            <a:defPPr>
              <a:defRPr lang="en-US"/>
            </a:defPPr>
            <a:lvl1pPr indent="0" algn="ctr">
              <a:lnSpc>
                <a:spcPts val="3600"/>
              </a:lnSpc>
              <a:buNone/>
              <a:defRPr sz="2400" kern="0" spc="-75">
                <a:solidFill>
                  <a:srgbClr val="007AF2"/>
                </a:solidFill>
                <a:latin typeface="Poppins Medium" pitchFamily="34" charset="0"/>
                <a:cs typeface="Poppins Medium" pitchFamily="34" charset="-12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en-US" sz="4400" dirty="0">
                <a:sym typeface="TT Hoves Bold"/>
              </a:rPr>
              <a:t>Overview</a:t>
            </a:r>
          </a:p>
        </p:txBody>
      </p:sp>
      <p:sp>
        <p:nvSpPr>
          <p:cNvPr id="16" name="TextBox 15">
            <a:extLst>
              <a:ext uri="{FF2B5EF4-FFF2-40B4-BE49-F238E27FC236}">
                <a16:creationId xmlns:a16="http://schemas.microsoft.com/office/drawing/2014/main" id="{26449BAE-5324-0E22-EB57-D6D26A7B5B4F}"/>
              </a:ext>
            </a:extLst>
          </p:cNvPr>
          <p:cNvSpPr txBox="1"/>
          <p:nvPr/>
        </p:nvSpPr>
        <p:spPr>
          <a:xfrm>
            <a:off x="350874" y="1396520"/>
            <a:ext cx="10866474" cy="4270080"/>
          </a:xfrm>
          <a:prstGeom prst="rect">
            <a:avLst/>
          </a:prstGeom>
        </p:spPr>
        <p:txBody>
          <a:bodyPr wrap="square" lIns="0" tIns="0" rIns="0" bIns="0" rtlCol="0" anchor="t">
            <a:spAutoFit/>
          </a:bodyPr>
          <a:lstStyle>
            <a:lvl1pPr>
              <a:lnSpc>
                <a:spcPts val="4759"/>
              </a:lnSpc>
              <a:defRPr sz="3399">
                <a:solidFill>
                  <a:srgbClr val="2A2E3A"/>
                </a:solidFill>
                <a:latin typeface="Helios"/>
                <a:ea typeface="Helios"/>
                <a:cs typeface="Helios"/>
              </a:defRPr>
            </a:lvl1pPr>
          </a:lstStyle>
          <a:p>
            <a:r>
              <a:rPr lang="en-US" dirty="0"/>
              <a:t>We explored five datasets (orders, </a:t>
            </a:r>
            <a:r>
              <a:rPr lang="en-US" dirty="0" err="1"/>
              <a:t>web_events</a:t>
            </a:r>
            <a:r>
              <a:rPr lang="en-US" dirty="0"/>
              <a:t>, accounts, </a:t>
            </a:r>
            <a:r>
              <a:rPr lang="en-US" dirty="0" err="1"/>
              <a:t>sales_reps</a:t>
            </a:r>
            <a:r>
              <a:rPr lang="en-US" dirty="0"/>
              <a:t>, region) from the Posey PostgreSQL database.</a:t>
            </a:r>
          </a:p>
          <a:p>
            <a:br>
              <a:rPr lang="en-US" dirty="0"/>
            </a:br>
            <a:r>
              <a:rPr lang="en-US" dirty="0"/>
              <a:t>The goal was to uncover patterns in sales, customer behavior, marketing, and regional performance.</a:t>
            </a:r>
            <a:br>
              <a:rPr lang="en-US" dirty="0"/>
            </a:br>
            <a:r>
              <a:rPr lang="en-US" dirty="0"/>
              <a:t>Our team collaborated by analyzing different tables, sharing insights, and building a unified presentation for management.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1F1"/>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0BCB15EA-49F6-9312-61E8-C45EFBA2ACC5}"/>
              </a:ext>
            </a:extLst>
          </p:cNvPr>
          <p:cNvPicPr>
            <a:picLocks noChangeAspect="1"/>
          </p:cNvPicPr>
          <p:nvPr/>
        </p:nvPicPr>
        <p:blipFill>
          <a:blip r:embed="rId3"/>
          <a:stretch>
            <a:fillRect/>
          </a:stretch>
        </p:blipFill>
        <p:spPr>
          <a:xfrm>
            <a:off x="2708" y="0"/>
            <a:ext cx="18282583" cy="9683925"/>
          </a:xfrm>
          <a:prstGeom prst="rect">
            <a:avLst/>
          </a:prstGeom>
        </p:spPr>
      </p:pic>
      <p:sp>
        <p:nvSpPr>
          <p:cNvPr id="16" name="name_02">
            <a:extLst>
              <a:ext uri="{FF2B5EF4-FFF2-40B4-BE49-F238E27FC236}">
                <a16:creationId xmlns:a16="http://schemas.microsoft.com/office/drawing/2014/main" id="{C1E76E69-DD8E-FF53-BE43-AB05716F7ED8}"/>
              </a:ext>
            </a:extLst>
          </p:cNvPr>
          <p:cNvSpPr/>
          <p:nvPr/>
        </p:nvSpPr>
        <p:spPr>
          <a:xfrm rot="-600">
            <a:off x="276454" y="9683928"/>
            <a:ext cx="2615601" cy="610326"/>
          </a:xfrm>
          <a:prstGeom prst="rect">
            <a:avLst/>
          </a:prstGeom>
          <a:noFill/>
          <a:ln/>
        </p:spPr>
        <p:txBody>
          <a:bodyPr wrap="square" lIns="0" tIns="0" rIns="0" bIns="0" rtlCol="0" anchor="t"/>
          <a:lstStyle/>
          <a:p>
            <a:pPr marL="0" indent="0" algn="ctr">
              <a:lnSpc>
                <a:spcPts val="3600"/>
              </a:lnSpc>
              <a:buNone/>
            </a:pPr>
            <a:r>
              <a:rPr lang="en-US" sz="2400" kern="0" spc="-75" dirty="0">
                <a:solidFill>
                  <a:srgbClr val="007AF2"/>
                </a:solidFill>
                <a:latin typeface="Poppins Medium" pitchFamily="34" charset="0"/>
                <a:cs typeface="Poppins Medium" pitchFamily="34" charset="-120"/>
              </a:rPr>
              <a:t>PARCH &amp; POSEY</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a:extLst>
            <a:ext uri="{FF2B5EF4-FFF2-40B4-BE49-F238E27FC236}">
              <a16:creationId xmlns:a16="http://schemas.microsoft.com/office/drawing/2014/main" id="{3612262D-B52E-89A2-AE4A-74E2FC0A0C9E}"/>
            </a:ext>
          </a:extLst>
        </p:cNvPr>
        <p:cNvGrpSpPr/>
        <p:nvPr/>
      </p:nvGrpSpPr>
      <p:grpSpPr>
        <a:xfrm>
          <a:off x="0" y="0"/>
          <a:ext cx="0" cy="0"/>
          <a:chOff x="0" y="0"/>
          <a:chExt cx="0" cy="0"/>
        </a:xfrm>
      </p:grpSpPr>
      <p:sp>
        <p:nvSpPr>
          <p:cNvPr id="2" name="name_02">
            <a:extLst>
              <a:ext uri="{FF2B5EF4-FFF2-40B4-BE49-F238E27FC236}">
                <a16:creationId xmlns:a16="http://schemas.microsoft.com/office/drawing/2014/main" id="{410ED8A5-370D-E255-CAB3-B5B025B74684}"/>
              </a:ext>
            </a:extLst>
          </p:cNvPr>
          <p:cNvSpPr/>
          <p:nvPr/>
        </p:nvSpPr>
        <p:spPr>
          <a:xfrm rot="-600">
            <a:off x="276454" y="9683928"/>
            <a:ext cx="2615601" cy="610326"/>
          </a:xfrm>
          <a:prstGeom prst="rect">
            <a:avLst/>
          </a:prstGeom>
          <a:noFill/>
          <a:ln/>
        </p:spPr>
        <p:txBody>
          <a:bodyPr wrap="square" lIns="0" tIns="0" rIns="0" bIns="0" rtlCol="0" anchor="t"/>
          <a:lstStyle/>
          <a:p>
            <a:pPr marL="0" indent="0" algn="ctr">
              <a:lnSpc>
                <a:spcPts val="3600"/>
              </a:lnSpc>
              <a:buNone/>
            </a:pPr>
            <a:r>
              <a:rPr lang="en-US" sz="2400" kern="0" spc="-75" dirty="0">
                <a:solidFill>
                  <a:srgbClr val="007AF2"/>
                </a:solidFill>
                <a:latin typeface="Poppins Medium" pitchFamily="34" charset="0"/>
                <a:cs typeface="Poppins Medium" pitchFamily="34" charset="-120"/>
              </a:rPr>
              <a:t>PARCH &amp; POSEY</a:t>
            </a:r>
            <a:endParaRPr lang="en-US" sz="2400" dirty="0"/>
          </a:p>
        </p:txBody>
      </p:sp>
      <p:pic>
        <p:nvPicPr>
          <p:cNvPr id="4" name="Picture 3">
            <a:extLst>
              <a:ext uri="{FF2B5EF4-FFF2-40B4-BE49-F238E27FC236}">
                <a16:creationId xmlns:a16="http://schemas.microsoft.com/office/drawing/2014/main" id="{70C509F3-64A4-BBEF-B78C-883143BB48B8}"/>
              </a:ext>
            </a:extLst>
          </p:cNvPr>
          <p:cNvPicPr>
            <a:picLocks noChangeAspect="1"/>
          </p:cNvPicPr>
          <p:nvPr/>
        </p:nvPicPr>
        <p:blipFill>
          <a:blip r:embed="rId3"/>
          <a:stretch>
            <a:fillRect/>
          </a:stretch>
        </p:blipFill>
        <p:spPr>
          <a:xfrm>
            <a:off x="2708" y="0"/>
            <a:ext cx="18282583" cy="9683699"/>
          </a:xfrm>
          <a:prstGeom prst="rect">
            <a:avLst/>
          </a:prstGeom>
        </p:spPr>
      </p:pic>
    </p:spTree>
    <p:extLst>
      <p:ext uri="{BB962C8B-B14F-4D97-AF65-F5344CB8AC3E}">
        <p14:creationId xmlns:p14="http://schemas.microsoft.com/office/powerpoint/2010/main" val="41788524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a:extLst>
            <a:ext uri="{FF2B5EF4-FFF2-40B4-BE49-F238E27FC236}">
              <a16:creationId xmlns:a16="http://schemas.microsoft.com/office/drawing/2014/main" id="{1E49BA04-16F4-1A21-CD15-F8042B278398}"/>
            </a:ext>
          </a:extLst>
        </p:cNvPr>
        <p:cNvGrpSpPr/>
        <p:nvPr/>
      </p:nvGrpSpPr>
      <p:grpSpPr>
        <a:xfrm>
          <a:off x="0" y="0"/>
          <a:ext cx="0" cy="0"/>
          <a:chOff x="0" y="0"/>
          <a:chExt cx="0" cy="0"/>
        </a:xfrm>
      </p:grpSpPr>
      <p:sp>
        <p:nvSpPr>
          <p:cNvPr id="2" name="name_02">
            <a:extLst>
              <a:ext uri="{FF2B5EF4-FFF2-40B4-BE49-F238E27FC236}">
                <a16:creationId xmlns:a16="http://schemas.microsoft.com/office/drawing/2014/main" id="{97001EB7-3F44-F0D9-A098-784127EC3F05}"/>
              </a:ext>
            </a:extLst>
          </p:cNvPr>
          <p:cNvSpPr/>
          <p:nvPr/>
        </p:nvSpPr>
        <p:spPr>
          <a:xfrm rot="-600">
            <a:off x="276454" y="9683928"/>
            <a:ext cx="2615601" cy="610326"/>
          </a:xfrm>
          <a:prstGeom prst="rect">
            <a:avLst/>
          </a:prstGeom>
          <a:noFill/>
          <a:ln/>
        </p:spPr>
        <p:txBody>
          <a:bodyPr wrap="square" lIns="0" tIns="0" rIns="0" bIns="0" rtlCol="0" anchor="t"/>
          <a:lstStyle/>
          <a:p>
            <a:pPr marL="0" indent="0" algn="ctr">
              <a:lnSpc>
                <a:spcPts val="3600"/>
              </a:lnSpc>
              <a:buNone/>
            </a:pPr>
            <a:r>
              <a:rPr lang="en-US" sz="2400" kern="0" spc="-75" dirty="0">
                <a:solidFill>
                  <a:srgbClr val="007AF2"/>
                </a:solidFill>
                <a:latin typeface="Poppins Medium" pitchFamily="34" charset="0"/>
                <a:cs typeface="Poppins Medium" pitchFamily="34" charset="-120"/>
              </a:rPr>
              <a:t>PARCH &amp; POSEY</a:t>
            </a:r>
            <a:endParaRPr lang="en-US" sz="2400" dirty="0"/>
          </a:p>
        </p:txBody>
      </p:sp>
      <p:pic>
        <p:nvPicPr>
          <p:cNvPr id="4" name="Picture 3">
            <a:extLst>
              <a:ext uri="{FF2B5EF4-FFF2-40B4-BE49-F238E27FC236}">
                <a16:creationId xmlns:a16="http://schemas.microsoft.com/office/drawing/2014/main" id="{2B805C01-20CF-EDE3-00A0-279DD6A4D70C}"/>
              </a:ext>
            </a:extLst>
          </p:cNvPr>
          <p:cNvPicPr>
            <a:picLocks noChangeAspect="1"/>
          </p:cNvPicPr>
          <p:nvPr/>
        </p:nvPicPr>
        <p:blipFill>
          <a:blip r:embed="rId3"/>
          <a:stretch>
            <a:fillRect/>
          </a:stretch>
        </p:blipFill>
        <p:spPr>
          <a:xfrm>
            <a:off x="2708" y="0"/>
            <a:ext cx="18282583" cy="9683699"/>
          </a:xfrm>
          <a:prstGeom prst="rect">
            <a:avLst/>
          </a:prstGeom>
        </p:spPr>
      </p:pic>
    </p:spTree>
    <p:extLst>
      <p:ext uri="{BB962C8B-B14F-4D97-AF65-F5344CB8AC3E}">
        <p14:creationId xmlns:p14="http://schemas.microsoft.com/office/powerpoint/2010/main" val="32067571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a:extLst>
            <a:ext uri="{FF2B5EF4-FFF2-40B4-BE49-F238E27FC236}">
              <a16:creationId xmlns:a16="http://schemas.microsoft.com/office/drawing/2014/main" id="{68B9016D-C464-F4D0-81D8-A9366749968E}"/>
            </a:ext>
          </a:extLst>
        </p:cNvPr>
        <p:cNvGrpSpPr/>
        <p:nvPr/>
      </p:nvGrpSpPr>
      <p:grpSpPr>
        <a:xfrm>
          <a:off x="0" y="0"/>
          <a:ext cx="0" cy="0"/>
          <a:chOff x="0" y="0"/>
          <a:chExt cx="0" cy="0"/>
        </a:xfrm>
      </p:grpSpPr>
      <p:sp>
        <p:nvSpPr>
          <p:cNvPr id="2" name="name_02">
            <a:extLst>
              <a:ext uri="{FF2B5EF4-FFF2-40B4-BE49-F238E27FC236}">
                <a16:creationId xmlns:a16="http://schemas.microsoft.com/office/drawing/2014/main" id="{9D084DFF-5B0E-EEA1-1945-E1616EBE40CD}"/>
              </a:ext>
            </a:extLst>
          </p:cNvPr>
          <p:cNvSpPr/>
          <p:nvPr/>
        </p:nvSpPr>
        <p:spPr>
          <a:xfrm rot="-600">
            <a:off x="276454" y="9683928"/>
            <a:ext cx="2615601" cy="610326"/>
          </a:xfrm>
          <a:prstGeom prst="rect">
            <a:avLst/>
          </a:prstGeom>
          <a:noFill/>
          <a:ln/>
        </p:spPr>
        <p:txBody>
          <a:bodyPr wrap="square" lIns="0" tIns="0" rIns="0" bIns="0" rtlCol="0" anchor="t"/>
          <a:lstStyle/>
          <a:p>
            <a:pPr marL="0" indent="0" algn="ctr">
              <a:lnSpc>
                <a:spcPts val="3600"/>
              </a:lnSpc>
              <a:buNone/>
            </a:pPr>
            <a:r>
              <a:rPr lang="en-US" sz="2400" kern="0" spc="-75" dirty="0">
                <a:solidFill>
                  <a:srgbClr val="007AF2"/>
                </a:solidFill>
                <a:latin typeface="Poppins Medium" pitchFamily="34" charset="0"/>
                <a:cs typeface="Poppins Medium" pitchFamily="34" charset="-120"/>
              </a:rPr>
              <a:t>PARCH &amp; POSEY</a:t>
            </a:r>
            <a:endParaRPr lang="en-US" sz="2400" dirty="0"/>
          </a:p>
        </p:txBody>
      </p:sp>
      <p:sp>
        <p:nvSpPr>
          <p:cNvPr id="3" name="TextBox 6">
            <a:extLst>
              <a:ext uri="{FF2B5EF4-FFF2-40B4-BE49-F238E27FC236}">
                <a16:creationId xmlns:a16="http://schemas.microsoft.com/office/drawing/2014/main" id="{CB13B016-6E8C-1755-D557-F2C2BBB8093D}"/>
              </a:ext>
            </a:extLst>
          </p:cNvPr>
          <p:cNvSpPr txBox="1"/>
          <p:nvPr/>
        </p:nvSpPr>
        <p:spPr>
          <a:xfrm>
            <a:off x="0" y="215065"/>
            <a:ext cx="18287999" cy="1443614"/>
          </a:xfrm>
          <a:prstGeom prst="rect">
            <a:avLst/>
          </a:prstGeom>
          <a:noFill/>
          <a:ln/>
        </p:spPr>
        <p:txBody>
          <a:bodyPr wrap="square" lIns="0" tIns="0" rIns="0" bIns="0" rtlCol="0" anchor="t"/>
          <a:lstStyle>
            <a:defPPr>
              <a:defRPr lang="en-US"/>
            </a:defPPr>
            <a:lvl1pPr indent="0" algn="ctr">
              <a:lnSpc>
                <a:spcPts val="3600"/>
              </a:lnSpc>
              <a:buNone/>
              <a:defRPr sz="2400" kern="0" spc="-75">
                <a:solidFill>
                  <a:srgbClr val="007AF2"/>
                </a:solidFill>
                <a:latin typeface="Poppins Medium" pitchFamily="34" charset="0"/>
                <a:cs typeface="Poppins Medium" pitchFamily="34" charset="-12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en-US" sz="4400" dirty="0"/>
              <a:t>High-Value Accounts and Their Sales Reps</a:t>
            </a:r>
            <a:endParaRPr lang="en-US" sz="4400" dirty="0">
              <a:sym typeface="TT Hoves Bold"/>
            </a:endParaRPr>
          </a:p>
        </p:txBody>
      </p:sp>
      <p:pic>
        <p:nvPicPr>
          <p:cNvPr id="4" name="Picture 3">
            <a:extLst>
              <a:ext uri="{FF2B5EF4-FFF2-40B4-BE49-F238E27FC236}">
                <a16:creationId xmlns:a16="http://schemas.microsoft.com/office/drawing/2014/main" id="{38126A97-8092-6EA3-7296-7BB1F180B040}"/>
              </a:ext>
            </a:extLst>
          </p:cNvPr>
          <p:cNvPicPr>
            <a:picLocks noChangeAspect="1"/>
          </p:cNvPicPr>
          <p:nvPr/>
        </p:nvPicPr>
        <p:blipFill>
          <a:blip r:embed="rId3"/>
          <a:srcRect l="12442" t="7592" r="13954" b="11601"/>
          <a:stretch>
            <a:fillRect/>
          </a:stretch>
        </p:blipFill>
        <p:spPr>
          <a:xfrm>
            <a:off x="702328" y="936872"/>
            <a:ext cx="16902692" cy="8811829"/>
          </a:xfrm>
          <a:prstGeom prst="rect">
            <a:avLst/>
          </a:prstGeom>
        </p:spPr>
      </p:pic>
    </p:spTree>
    <p:extLst>
      <p:ext uri="{BB962C8B-B14F-4D97-AF65-F5344CB8AC3E}">
        <p14:creationId xmlns:p14="http://schemas.microsoft.com/office/powerpoint/2010/main" val="37828020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F7F0D93-FF6F-738D-CB3A-4D93126CB2BB}"/>
            </a:ext>
          </a:extLst>
        </p:cNvPr>
        <p:cNvGrpSpPr/>
        <p:nvPr/>
      </p:nvGrpSpPr>
      <p:grpSpPr>
        <a:xfrm>
          <a:off x="0" y="0"/>
          <a:ext cx="0" cy="0"/>
          <a:chOff x="0" y="0"/>
          <a:chExt cx="0" cy="0"/>
        </a:xfrm>
      </p:grpSpPr>
      <p:sp>
        <p:nvSpPr>
          <p:cNvPr id="10" name="name_02">
            <a:extLst>
              <a:ext uri="{FF2B5EF4-FFF2-40B4-BE49-F238E27FC236}">
                <a16:creationId xmlns:a16="http://schemas.microsoft.com/office/drawing/2014/main" id="{7473C525-501E-BEE3-6228-E74E75AF4BD6}"/>
              </a:ext>
            </a:extLst>
          </p:cNvPr>
          <p:cNvSpPr/>
          <p:nvPr/>
        </p:nvSpPr>
        <p:spPr>
          <a:xfrm rot="-600">
            <a:off x="276454" y="9683928"/>
            <a:ext cx="2615601" cy="610326"/>
          </a:xfrm>
          <a:prstGeom prst="rect">
            <a:avLst/>
          </a:prstGeom>
          <a:noFill/>
          <a:ln/>
        </p:spPr>
        <p:txBody>
          <a:bodyPr wrap="square" lIns="0" tIns="0" rIns="0" bIns="0" rtlCol="0" anchor="t"/>
          <a:lstStyle/>
          <a:p>
            <a:pPr marL="0" indent="0" algn="ctr">
              <a:lnSpc>
                <a:spcPts val="3600"/>
              </a:lnSpc>
              <a:buNone/>
            </a:pPr>
            <a:r>
              <a:rPr lang="en-US" sz="2400" kern="0" spc="-75" dirty="0">
                <a:solidFill>
                  <a:srgbClr val="007AF2"/>
                </a:solidFill>
                <a:latin typeface="Poppins Medium" pitchFamily="34" charset="0"/>
                <a:cs typeface="Poppins Medium" pitchFamily="34" charset="-120"/>
              </a:rPr>
              <a:t>PARCH &amp; POSEY</a:t>
            </a:r>
            <a:endParaRPr lang="en-US" sz="2400" dirty="0"/>
          </a:p>
        </p:txBody>
      </p:sp>
      <p:sp>
        <p:nvSpPr>
          <p:cNvPr id="2" name="TextBox 6">
            <a:extLst>
              <a:ext uri="{FF2B5EF4-FFF2-40B4-BE49-F238E27FC236}">
                <a16:creationId xmlns:a16="http://schemas.microsoft.com/office/drawing/2014/main" id="{227FE052-FF7B-0C4D-9AAF-263115CF897C}"/>
              </a:ext>
            </a:extLst>
          </p:cNvPr>
          <p:cNvSpPr txBox="1"/>
          <p:nvPr/>
        </p:nvSpPr>
        <p:spPr>
          <a:xfrm>
            <a:off x="0" y="215065"/>
            <a:ext cx="18287999" cy="1443614"/>
          </a:xfrm>
          <a:prstGeom prst="rect">
            <a:avLst/>
          </a:prstGeom>
          <a:noFill/>
          <a:ln/>
        </p:spPr>
        <p:txBody>
          <a:bodyPr wrap="square" lIns="0" tIns="0" rIns="0" bIns="0" rtlCol="0" anchor="t"/>
          <a:lstStyle>
            <a:defPPr>
              <a:defRPr lang="en-US"/>
            </a:defPPr>
            <a:lvl1pPr indent="0" algn="ctr">
              <a:lnSpc>
                <a:spcPts val="3600"/>
              </a:lnSpc>
              <a:buNone/>
              <a:defRPr sz="2400" kern="0" spc="-75">
                <a:solidFill>
                  <a:srgbClr val="007AF2"/>
                </a:solidFill>
                <a:latin typeface="Poppins Medium" pitchFamily="34" charset="0"/>
                <a:cs typeface="Poppins Medium" pitchFamily="34" charset="-12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en-US" sz="4400" dirty="0"/>
              <a:t>Top Acquisition Channels by Region</a:t>
            </a:r>
            <a:endParaRPr lang="en-US" sz="4400" dirty="0">
              <a:sym typeface="TT Hoves Bold"/>
            </a:endParaRPr>
          </a:p>
        </p:txBody>
      </p:sp>
      <p:pic>
        <p:nvPicPr>
          <p:cNvPr id="6" name="Picture 5">
            <a:extLst>
              <a:ext uri="{FF2B5EF4-FFF2-40B4-BE49-F238E27FC236}">
                <a16:creationId xmlns:a16="http://schemas.microsoft.com/office/drawing/2014/main" id="{7C6401B3-5FB3-057A-DD78-456F42D5DF08}"/>
              </a:ext>
            </a:extLst>
          </p:cNvPr>
          <p:cNvPicPr>
            <a:picLocks noChangeAspect="1"/>
          </p:cNvPicPr>
          <p:nvPr/>
        </p:nvPicPr>
        <p:blipFill>
          <a:blip r:embed="rId3"/>
          <a:srcRect l="22765" t="8176" r="12342" b="13626"/>
          <a:stretch>
            <a:fillRect/>
          </a:stretch>
        </p:blipFill>
        <p:spPr>
          <a:xfrm>
            <a:off x="2998381" y="1016239"/>
            <a:ext cx="12440093" cy="8669393"/>
          </a:xfrm>
          <a:prstGeom prst="rect">
            <a:avLst/>
          </a:prstGeom>
        </p:spPr>
      </p:pic>
    </p:spTree>
    <p:extLst>
      <p:ext uri="{BB962C8B-B14F-4D97-AF65-F5344CB8AC3E}">
        <p14:creationId xmlns:p14="http://schemas.microsoft.com/office/powerpoint/2010/main" val="16899593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a:extLst>
            <a:ext uri="{FF2B5EF4-FFF2-40B4-BE49-F238E27FC236}">
              <a16:creationId xmlns:a16="http://schemas.microsoft.com/office/drawing/2014/main" id="{B8062CFD-FE30-9984-744F-1E5B08E2389E}"/>
            </a:ext>
          </a:extLst>
        </p:cNvPr>
        <p:cNvGrpSpPr/>
        <p:nvPr/>
      </p:nvGrpSpPr>
      <p:grpSpPr>
        <a:xfrm>
          <a:off x="0" y="0"/>
          <a:ext cx="0" cy="0"/>
          <a:chOff x="0" y="0"/>
          <a:chExt cx="0" cy="0"/>
        </a:xfrm>
      </p:grpSpPr>
      <p:sp>
        <p:nvSpPr>
          <p:cNvPr id="2" name="name_02">
            <a:extLst>
              <a:ext uri="{FF2B5EF4-FFF2-40B4-BE49-F238E27FC236}">
                <a16:creationId xmlns:a16="http://schemas.microsoft.com/office/drawing/2014/main" id="{07C21FE2-C9D1-E844-B689-68A04F5242C7}"/>
              </a:ext>
            </a:extLst>
          </p:cNvPr>
          <p:cNvSpPr/>
          <p:nvPr/>
        </p:nvSpPr>
        <p:spPr>
          <a:xfrm rot="-600">
            <a:off x="276454" y="9683928"/>
            <a:ext cx="2615601" cy="610326"/>
          </a:xfrm>
          <a:prstGeom prst="rect">
            <a:avLst/>
          </a:prstGeom>
          <a:noFill/>
          <a:ln/>
        </p:spPr>
        <p:txBody>
          <a:bodyPr wrap="square" lIns="0" tIns="0" rIns="0" bIns="0" rtlCol="0" anchor="t"/>
          <a:lstStyle/>
          <a:p>
            <a:pPr marL="0" indent="0" algn="ctr">
              <a:lnSpc>
                <a:spcPts val="3600"/>
              </a:lnSpc>
              <a:buNone/>
            </a:pPr>
            <a:r>
              <a:rPr lang="en-US" sz="2400" kern="0" spc="-75" dirty="0">
                <a:solidFill>
                  <a:srgbClr val="007AF2"/>
                </a:solidFill>
                <a:latin typeface="Poppins Medium" pitchFamily="34" charset="0"/>
                <a:cs typeface="Poppins Medium" pitchFamily="34" charset="-120"/>
              </a:rPr>
              <a:t>PARCH &amp; POSEY</a:t>
            </a:r>
            <a:endParaRPr lang="en-US" sz="2400" dirty="0"/>
          </a:p>
        </p:txBody>
      </p:sp>
      <p:sp>
        <p:nvSpPr>
          <p:cNvPr id="3" name="TextBox 6">
            <a:extLst>
              <a:ext uri="{FF2B5EF4-FFF2-40B4-BE49-F238E27FC236}">
                <a16:creationId xmlns:a16="http://schemas.microsoft.com/office/drawing/2014/main" id="{2501203B-544E-DA15-E8A0-623D00C67F2C}"/>
              </a:ext>
            </a:extLst>
          </p:cNvPr>
          <p:cNvSpPr txBox="1"/>
          <p:nvPr/>
        </p:nvSpPr>
        <p:spPr>
          <a:xfrm>
            <a:off x="0" y="215065"/>
            <a:ext cx="18287999" cy="1443614"/>
          </a:xfrm>
          <a:prstGeom prst="rect">
            <a:avLst/>
          </a:prstGeom>
          <a:noFill/>
          <a:ln/>
        </p:spPr>
        <p:txBody>
          <a:bodyPr wrap="square" lIns="0" tIns="0" rIns="0" bIns="0" rtlCol="0" anchor="t"/>
          <a:lstStyle>
            <a:defPPr>
              <a:defRPr lang="en-US"/>
            </a:defPPr>
            <a:lvl1pPr indent="0" algn="ctr">
              <a:lnSpc>
                <a:spcPts val="3600"/>
              </a:lnSpc>
              <a:buNone/>
              <a:defRPr sz="2400" kern="0" spc="-75">
                <a:solidFill>
                  <a:srgbClr val="007AF2"/>
                </a:solidFill>
                <a:latin typeface="Poppins Medium" pitchFamily="34" charset="0"/>
                <a:cs typeface="Poppins Medium" pitchFamily="34" charset="-12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en-US" sz="4400" dirty="0"/>
              <a:t>Sales By Region</a:t>
            </a:r>
            <a:endParaRPr lang="en-US" sz="4400" dirty="0">
              <a:sym typeface="TT Hoves Bold"/>
            </a:endParaRPr>
          </a:p>
        </p:txBody>
      </p:sp>
      <p:pic>
        <p:nvPicPr>
          <p:cNvPr id="5" name="Picture 4">
            <a:extLst>
              <a:ext uri="{FF2B5EF4-FFF2-40B4-BE49-F238E27FC236}">
                <a16:creationId xmlns:a16="http://schemas.microsoft.com/office/drawing/2014/main" id="{0709FD9D-D80C-7C9C-E7A9-03A8053DA0AB}"/>
              </a:ext>
            </a:extLst>
          </p:cNvPr>
          <p:cNvPicPr>
            <a:picLocks noChangeAspect="1"/>
          </p:cNvPicPr>
          <p:nvPr/>
        </p:nvPicPr>
        <p:blipFill>
          <a:blip r:embed="rId3"/>
          <a:stretch>
            <a:fillRect/>
          </a:stretch>
        </p:blipFill>
        <p:spPr>
          <a:xfrm>
            <a:off x="2316739" y="936872"/>
            <a:ext cx="12972879" cy="8659159"/>
          </a:xfrm>
          <a:prstGeom prst="rect">
            <a:avLst/>
          </a:prstGeom>
        </p:spPr>
      </p:pic>
    </p:spTree>
    <p:extLst>
      <p:ext uri="{BB962C8B-B14F-4D97-AF65-F5344CB8AC3E}">
        <p14:creationId xmlns:p14="http://schemas.microsoft.com/office/powerpoint/2010/main" val="11375656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a:extLst>
            <a:ext uri="{FF2B5EF4-FFF2-40B4-BE49-F238E27FC236}">
              <a16:creationId xmlns:a16="http://schemas.microsoft.com/office/drawing/2014/main" id="{690569DC-B1D7-52E7-B570-EBF5436CECC3}"/>
            </a:ext>
          </a:extLst>
        </p:cNvPr>
        <p:cNvGrpSpPr/>
        <p:nvPr/>
      </p:nvGrpSpPr>
      <p:grpSpPr>
        <a:xfrm>
          <a:off x="0" y="0"/>
          <a:ext cx="0" cy="0"/>
          <a:chOff x="0" y="0"/>
          <a:chExt cx="0" cy="0"/>
        </a:xfrm>
      </p:grpSpPr>
      <p:sp>
        <p:nvSpPr>
          <p:cNvPr id="2" name="name_02">
            <a:extLst>
              <a:ext uri="{FF2B5EF4-FFF2-40B4-BE49-F238E27FC236}">
                <a16:creationId xmlns:a16="http://schemas.microsoft.com/office/drawing/2014/main" id="{B18F21C1-5A78-0822-56FA-C1F0098C5CBB}"/>
              </a:ext>
            </a:extLst>
          </p:cNvPr>
          <p:cNvSpPr/>
          <p:nvPr/>
        </p:nvSpPr>
        <p:spPr>
          <a:xfrm rot="-600">
            <a:off x="276454" y="9683928"/>
            <a:ext cx="2615601" cy="610326"/>
          </a:xfrm>
          <a:prstGeom prst="rect">
            <a:avLst/>
          </a:prstGeom>
          <a:noFill/>
          <a:ln/>
        </p:spPr>
        <p:txBody>
          <a:bodyPr wrap="square" lIns="0" tIns="0" rIns="0" bIns="0" rtlCol="0" anchor="t"/>
          <a:lstStyle/>
          <a:p>
            <a:pPr marL="0" indent="0" algn="ctr">
              <a:lnSpc>
                <a:spcPts val="3600"/>
              </a:lnSpc>
              <a:buNone/>
            </a:pPr>
            <a:r>
              <a:rPr lang="en-US" sz="2400" kern="0" spc="-75" dirty="0">
                <a:solidFill>
                  <a:srgbClr val="007AF2"/>
                </a:solidFill>
                <a:latin typeface="Poppins Medium" pitchFamily="34" charset="0"/>
                <a:cs typeface="Poppins Medium" pitchFamily="34" charset="-120"/>
              </a:rPr>
              <a:t>PARCH &amp; POSEY</a:t>
            </a:r>
            <a:endParaRPr lang="en-US" sz="2400" dirty="0"/>
          </a:p>
        </p:txBody>
      </p:sp>
      <p:sp>
        <p:nvSpPr>
          <p:cNvPr id="3" name="TextBox 6">
            <a:extLst>
              <a:ext uri="{FF2B5EF4-FFF2-40B4-BE49-F238E27FC236}">
                <a16:creationId xmlns:a16="http://schemas.microsoft.com/office/drawing/2014/main" id="{F97D2F32-DC18-9521-261D-B47BE79EA6E4}"/>
              </a:ext>
            </a:extLst>
          </p:cNvPr>
          <p:cNvSpPr txBox="1"/>
          <p:nvPr/>
        </p:nvSpPr>
        <p:spPr>
          <a:xfrm>
            <a:off x="0" y="215065"/>
            <a:ext cx="18287999" cy="1443614"/>
          </a:xfrm>
          <a:prstGeom prst="rect">
            <a:avLst/>
          </a:prstGeom>
          <a:noFill/>
          <a:ln/>
        </p:spPr>
        <p:txBody>
          <a:bodyPr wrap="square" lIns="0" tIns="0" rIns="0" bIns="0" rtlCol="0" anchor="t"/>
          <a:lstStyle>
            <a:defPPr>
              <a:defRPr lang="en-US"/>
            </a:defPPr>
            <a:lvl1pPr indent="0" algn="ctr">
              <a:lnSpc>
                <a:spcPts val="3600"/>
              </a:lnSpc>
              <a:buNone/>
              <a:defRPr sz="2400" kern="0" spc="-75">
                <a:solidFill>
                  <a:srgbClr val="007AF2"/>
                </a:solidFill>
                <a:latin typeface="Poppins Medium" pitchFamily="34" charset="0"/>
                <a:cs typeface="Poppins Medium" pitchFamily="34" charset="-12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en-US" sz="4400" dirty="0"/>
              <a:t>Sales By Company</a:t>
            </a:r>
            <a:endParaRPr lang="en-US" sz="4400" dirty="0">
              <a:sym typeface="TT Hoves Bold"/>
            </a:endParaRPr>
          </a:p>
        </p:txBody>
      </p:sp>
      <p:pic>
        <p:nvPicPr>
          <p:cNvPr id="5" name="Picture 4">
            <a:extLst>
              <a:ext uri="{FF2B5EF4-FFF2-40B4-BE49-F238E27FC236}">
                <a16:creationId xmlns:a16="http://schemas.microsoft.com/office/drawing/2014/main" id="{D33EEE7A-D761-3AEE-2C17-94BDB94EB8AA}"/>
              </a:ext>
            </a:extLst>
          </p:cNvPr>
          <p:cNvPicPr>
            <a:picLocks noChangeAspect="1"/>
          </p:cNvPicPr>
          <p:nvPr/>
        </p:nvPicPr>
        <p:blipFill>
          <a:blip r:embed="rId3"/>
          <a:stretch>
            <a:fillRect/>
          </a:stretch>
        </p:blipFill>
        <p:spPr>
          <a:xfrm>
            <a:off x="2913321" y="936872"/>
            <a:ext cx="12461356" cy="8637337"/>
          </a:xfrm>
          <a:prstGeom prst="rect">
            <a:avLst/>
          </a:prstGeom>
        </p:spPr>
      </p:pic>
    </p:spTree>
    <p:extLst>
      <p:ext uri="{BB962C8B-B14F-4D97-AF65-F5344CB8AC3E}">
        <p14:creationId xmlns:p14="http://schemas.microsoft.com/office/powerpoint/2010/main" val="32795288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a:extLst>
            <a:ext uri="{FF2B5EF4-FFF2-40B4-BE49-F238E27FC236}">
              <a16:creationId xmlns:a16="http://schemas.microsoft.com/office/drawing/2014/main" id="{9EC63F66-B443-D7CF-C6D2-F6794CB1A6EC}"/>
            </a:ext>
          </a:extLst>
        </p:cNvPr>
        <p:cNvGrpSpPr/>
        <p:nvPr/>
      </p:nvGrpSpPr>
      <p:grpSpPr>
        <a:xfrm>
          <a:off x="0" y="0"/>
          <a:ext cx="0" cy="0"/>
          <a:chOff x="0" y="0"/>
          <a:chExt cx="0" cy="0"/>
        </a:xfrm>
      </p:grpSpPr>
      <p:sp>
        <p:nvSpPr>
          <p:cNvPr id="2" name="name_02">
            <a:extLst>
              <a:ext uri="{FF2B5EF4-FFF2-40B4-BE49-F238E27FC236}">
                <a16:creationId xmlns:a16="http://schemas.microsoft.com/office/drawing/2014/main" id="{837EA1F3-CF9D-C6FA-DBB3-2D843B29119B}"/>
              </a:ext>
            </a:extLst>
          </p:cNvPr>
          <p:cNvSpPr/>
          <p:nvPr/>
        </p:nvSpPr>
        <p:spPr>
          <a:xfrm rot="-600">
            <a:off x="276454" y="9683928"/>
            <a:ext cx="2615601" cy="610326"/>
          </a:xfrm>
          <a:prstGeom prst="rect">
            <a:avLst/>
          </a:prstGeom>
          <a:noFill/>
          <a:ln/>
        </p:spPr>
        <p:txBody>
          <a:bodyPr wrap="square" lIns="0" tIns="0" rIns="0" bIns="0" rtlCol="0" anchor="t"/>
          <a:lstStyle/>
          <a:p>
            <a:pPr marL="0" indent="0" algn="ctr">
              <a:lnSpc>
                <a:spcPts val="3600"/>
              </a:lnSpc>
              <a:buNone/>
            </a:pPr>
            <a:r>
              <a:rPr lang="en-US" sz="2400" kern="0" spc="-75" dirty="0">
                <a:solidFill>
                  <a:srgbClr val="007AF2"/>
                </a:solidFill>
                <a:latin typeface="Poppins Medium" pitchFamily="34" charset="0"/>
                <a:cs typeface="Poppins Medium" pitchFamily="34" charset="-120"/>
              </a:rPr>
              <a:t>PARCH &amp; POSEY</a:t>
            </a:r>
            <a:endParaRPr lang="en-US" sz="2400" dirty="0"/>
          </a:p>
        </p:txBody>
      </p:sp>
      <p:sp>
        <p:nvSpPr>
          <p:cNvPr id="3" name="TextBox 6">
            <a:extLst>
              <a:ext uri="{FF2B5EF4-FFF2-40B4-BE49-F238E27FC236}">
                <a16:creationId xmlns:a16="http://schemas.microsoft.com/office/drawing/2014/main" id="{FD3BBDA3-3EDA-04D7-0B60-0CA450B725AC}"/>
              </a:ext>
            </a:extLst>
          </p:cNvPr>
          <p:cNvSpPr txBox="1"/>
          <p:nvPr/>
        </p:nvSpPr>
        <p:spPr>
          <a:xfrm>
            <a:off x="0" y="215065"/>
            <a:ext cx="18287999" cy="1443614"/>
          </a:xfrm>
          <a:prstGeom prst="rect">
            <a:avLst/>
          </a:prstGeom>
          <a:noFill/>
          <a:ln/>
        </p:spPr>
        <p:txBody>
          <a:bodyPr wrap="square" lIns="0" tIns="0" rIns="0" bIns="0" rtlCol="0" anchor="t"/>
          <a:lstStyle>
            <a:defPPr>
              <a:defRPr lang="en-US"/>
            </a:defPPr>
            <a:lvl1pPr indent="0" algn="ctr">
              <a:lnSpc>
                <a:spcPts val="3600"/>
              </a:lnSpc>
              <a:buNone/>
              <a:defRPr sz="2400" kern="0" spc="-75">
                <a:solidFill>
                  <a:srgbClr val="007AF2"/>
                </a:solidFill>
                <a:latin typeface="Poppins Medium" pitchFamily="34" charset="0"/>
                <a:cs typeface="Poppins Medium" pitchFamily="34" charset="-12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en-US" sz="4400" dirty="0"/>
              <a:t>Web Event By Channel</a:t>
            </a:r>
            <a:endParaRPr lang="en-US" sz="4400" dirty="0">
              <a:sym typeface="TT Hoves Bold"/>
            </a:endParaRPr>
          </a:p>
        </p:txBody>
      </p:sp>
      <p:pic>
        <p:nvPicPr>
          <p:cNvPr id="5" name="Picture 4">
            <a:extLst>
              <a:ext uri="{FF2B5EF4-FFF2-40B4-BE49-F238E27FC236}">
                <a16:creationId xmlns:a16="http://schemas.microsoft.com/office/drawing/2014/main" id="{C0AFE648-01C3-7536-CD58-79CFE370ABA9}"/>
              </a:ext>
            </a:extLst>
          </p:cNvPr>
          <p:cNvPicPr>
            <a:picLocks noChangeAspect="1"/>
          </p:cNvPicPr>
          <p:nvPr/>
        </p:nvPicPr>
        <p:blipFill>
          <a:blip r:embed="rId3"/>
          <a:stretch>
            <a:fillRect/>
          </a:stretch>
        </p:blipFill>
        <p:spPr>
          <a:xfrm>
            <a:off x="2576327" y="916096"/>
            <a:ext cx="13135346" cy="8767603"/>
          </a:xfrm>
          <a:prstGeom prst="rect">
            <a:avLst/>
          </a:prstGeom>
        </p:spPr>
      </p:pic>
    </p:spTree>
    <p:extLst>
      <p:ext uri="{BB962C8B-B14F-4D97-AF65-F5344CB8AC3E}">
        <p14:creationId xmlns:p14="http://schemas.microsoft.com/office/powerpoint/2010/main" val="21620902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a:extLst>
            <a:ext uri="{FF2B5EF4-FFF2-40B4-BE49-F238E27FC236}">
              <a16:creationId xmlns:a16="http://schemas.microsoft.com/office/drawing/2014/main" id="{3328ED76-8156-95FC-3C35-1E69EF005634}"/>
            </a:ext>
          </a:extLst>
        </p:cNvPr>
        <p:cNvGrpSpPr/>
        <p:nvPr/>
      </p:nvGrpSpPr>
      <p:grpSpPr>
        <a:xfrm>
          <a:off x="0" y="0"/>
          <a:ext cx="0" cy="0"/>
          <a:chOff x="0" y="0"/>
          <a:chExt cx="0" cy="0"/>
        </a:xfrm>
      </p:grpSpPr>
      <p:sp>
        <p:nvSpPr>
          <p:cNvPr id="2" name="name_02">
            <a:extLst>
              <a:ext uri="{FF2B5EF4-FFF2-40B4-BE49-F238E27FC236}">
                <a16:creationId xmlns:a16="http://schemas.microsoft.com/office/drawing/2014/main" id="{4056D7CC-15A0-6358-7079-EDB75F4D3EF9}"/>
              </a:ext>
            </a:extLst>
          </p:cNvPr>
          <p:cNvSpPr/>
          <p:nvPr/>
        </p:nvSpPr>
        <p:spPr>
          <a:xfrm rot="-600">
            <a:off x="276454" y="9683928"/>
            <a:ext cx="2615601" cy="610326"/>
          </a:xfrm>
          <a:prstGeom prst="rect">
            <a:avLst/>
          </a:prstGeom>
          <a:noFill/>
          <a:ln/>
        </p:spPr>
        <p:txBody>
          <a:bodyPr wrap="square" lIns="0" tIns="0" rIns="0" bIns="0" rtlCol="0" anchor="t"/>
          <a:lstStyle/>
          <a:p>
            <a:pPr marL="0" indent="0" algn="ctr">
              <a:lnSpc>
                <a:spcPts val="3600"/>
              </a:lnSpc>
              <a:buNone/>
            </a:pPr>
            <a:r>
              <a:rPr lang="en-US" sz="2400" kern="0" spc="-75" dirty="0">
                <a:solidFill>
                  <a:srgbClr val="007AF2"/>
                </a:solidFill>
                <a:latin typeface="Poppins Medium" pitchFamily="34" charset="0"/>
                <a:cs typeface="Poppins Medium" pitchFamily="34" charset="-120"/>
              </a:rPr>
              <a:t>PARCH &amp; POSEY</a:t>
            </a:r>
            <a:endParaRPr lang="en-US" sz="2400" dirty="0"/>
          </a:p>
        </p:txBody>
      </p:sp>
      <p:sp>
        <p:nvSpPr>
          <p:cNvPr id="3" name="TextBox 6">
            <a:extLst>
              <a:ext uri="{FF2B5EF4-FFF2-40B4-BE49-F238E27FC236}">
                <a16:creationId xmlns:a16="http://schemas.microsoft.com/office/drawing/2014/main" id="{AD8C4A0F-4A9C-0452-39C4-3EF28F140DA4}"/>
              </a:ext>
            </a:extLst>
          </p:cNvPr>
          <p:cNvSpPr txBox="1"/>
          <p:nvPr/>
        </p:nvSpPr>
        <p:spPr>
          <a:xfrm>
            <a:off x="0" y="215065"/>
            <a:ext cx="18287999" cy="1443614"/>
          </a:xfrm>
          <a:prstGeom prst="rect">
            <a:avLst/>
          </a:prstGeom>
          <a:noFill/>
          <a:ln/>
        </p:spPr>
        <p:txBody>
          <a:bodyPr wrap="square" lIns="0" tIns="0" rIns="0" bIns="0" rtlCol="0" anchor="t"/>
          <a:lstStyle>
            <a:defPPr>
              <a:defRPr lang="en-US"/>
            </a:defPPr>
            <a:lvl1pPr indent="0" algn="ctr">
              <a:lnSpc>
                <a:spcPts val="3600"/>
              </a:lnSpc>
              <a:buNone/>
              <a:defRPr sz="2400" kern="0" spc="-75">
                <a:solidFill>
                  <a:srgbClr val="007AF2"/>
                </a:solidFill>
                <a:latin typeface="Poppins Medium" pitchFamily="34" charset="0"/>
                <a:cs typeface="Poppins Medium" pitchFamily="34" charset="-12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en-US" sz="4400" dirty="0"/>
              <a:t>Region Performance By Revenue</a:t>
            </a:r>
            <a:endParaRPr lang="en-US" sz="4400" dirty="0">
              <a:sym typeface="TT Hoves Bold"/>
            </a:endParaRPr>
          </a:p>
        </p:txBody>
      </p:sp>
      <p:pic>
        <p:nvPicPr>
          <p:cNvPr id="7" name="Picture 6">
            <a:extLst>
              <a:ext uri="{FF2B5EF4-FFF2-40B4-BE49-F238E27FC236}">
                <a16:creationId xmlns:a16="http://schemas.microsoft.com/office/drawing/2014/main" id="{DCD7EDEF-5A7B-8C83-5455-991F4F906D6A}"/>
              </a:ext>
            </a:extLst>
          </p:cNvPr>
          <p:cNvPicPr>
            <a:picLocks noChangeAspect="1"/>
          </p:cNvPicPr>
          <p:nvPr/>
        </p:nvPicPr>
        <p:blipFill>
          <a:blip r:embed="rId3"/>
          <a:stretch>
            <a:fillRect/>
          </a:stretch>
        </p:blipFill>
        <p:spPr>
          <a:xfrm>
            <a:off x="2173277" y="1043197"/>
            <a:ext cx="14009478" cy="8415856"/>
          </a:xfrm>
          <a:prstGeom prst="rect">
            <a:avLst/>
          </a:prstGeom>
        </p:spPr>
      </p:pic>
    </p:spTree>
    <p:extLst>
      <p:ext uri="{BB962C8B-B14F-4D97-AF65-F5344CB8AC3E}">
        <p14:creationId xmlns:p14="http://schemas.microsoft.com/office/powerpoint/2010/main" val="20965687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a:extLst>
            <a:ext uri="{FF2B5EF4-FFF2-40B4-BE49-F238E27FC236}">
              <a16:creationId xmlns:a16="http://schemas.microsoft.com/office/drawing/2014/main" id="{C115ACBB-6B2F-E400-3FDA-7BBBE3311102}"/>
            </a:ext>
          </a:extLst>
        </p:cNvPr>
        <p:cNvGrpSpPr/>
        <p:nvPr/>
      </p:nvGrpSpPr>
      <p:grpSpPr>
        <a:xfrm>
          <a:off x="0" y="0"/>
          <a:ext cx="0" cy="0"/>
          <a:chOff x="0" y="0"/>
          <a:chExt cx="0" cy="0"/>
        </a:xfrm>
      </p:grpSpPr>
      <p:sp>
        <p:nvSpPr>
          <p:cNvPr id="2" name="name_02">
            <a:extLst>
              <a:ext uri="{FF2B5EF4-FFF2-40B4-BE49-F238E27FC236}">
                <a16:creationId xmlns:a16="http://schemas.microsoft.com/office/drawing/2014/main" id="{AE2D5435-C867-B752-DC4A-9B5BE708758F}"/>
              </a:ext>
            </a:extLst>
          </p:cNvPr>
          <p:cNvSpPr/>
          <p:nvPr/>
        </p:nvSpPr>
        <p:spPr>
          <a:xfrm rot="-600">
            <a:off x="276454" y="9683928"/>
            <a:ext cx="2615601" cy="610326"/>
          </a:xfrm>
          <a:prstGeom prst="rect">
            <a:avLst/>
          </a:prstGeom>
          <a:noFill/>
          <a:ln/>
        </p:spPr>
        <p:txBody>
          <a:bodyPr wrap="square" lIns="0" tIns="0" rIns="0" bIns="0" rtlCol="0" anchor="t"/>
          <a:lstStyle/>
          <a:p>
            <a:pPr marL="0" indent="0" algn="ctr">
              <a:lnSpc>
                <a:spcPts val="3600"/>
              </a:lnSpc>
              <a:buNone/>
            </a:pPr>
            <a:r>
              <a:rPr lang="en-US" sz="2400" kern="0" spc="-75" dirty="0">
                <a:solidFill>
                  <a:srgbClr val="007AF2"/>
                </a:solidFill>
                <a:latin typeface="Poppins Medium" pitchFamily="34" charset="0"/>
                <a:cs typeface="Poppins Medium" pitchFamily="34" charset="-120"/>
              </a:rPr>
              <a:t>PARCH &amp; POSEY</a:t>
            </a:r>
            <a:endParaRPr lang="en-US" sz="2400" dirty="0"/>
          </a:p>
        </p:txBody>
      </p:sp>
      <p:sp>
        <p:nvSpPr>
          <p:cNvPr id="3" name="TextBox 6">
            <a:extLst>
              <a:ext uri="{FF2B5EF4-FFF2-40B4-BE49-F238E27FC236}">
                <a16:creationId xmlns:a16="http://schemas.microsoft.com/office/drawing/2014/main" id="{0F62F2B7-306B-AC18-3498-C32B16E94692}"/>
              </a:ext>
            </a:extLst>
          </p:cNvPr>
          <p:cNvSpPr txBox="1"/>
          <p:nvPr/>
        </p:nvSpPr>
        <p:spPr>
          <a:xfrm>
            <a:off x="0" y="215065"/>
            <a:ext cx="18287999" cy="1443614"/>
          </a:xfrm>
          <a:prstGeom prst="rect">
            <a:avLst/>
          </a:prstGeom>
          <a:noFill/>
          <a:ln/>
        </p:spPr>
        <p:txBody>
          <a:bodyPr wrap="square" lIns="0" tIns="0" rIns="0" bIns="0" rtlCol="0" anchor="t"/>
          <a:lstStyle>
            <a:defPPr>
              <a:defRPr lang="en-US"/>
            </a:defPPr>
            <a:lvl1pPr indent="0" algn="ctr">
              <a:lnSpc>
                <a:spcPts val="3600"/>
              </a:lnSpc>
              <a:buNone/>
              <a:defRPr sz="2400" kern="0" spc="-75">
                <a:solidFill>
                  <a:srgbClr val="007AF2"/>
                </a:solidFill>
                <a:latin typeface="Poppins Medium" pitchFamily="34" charset="0"/>
                <a:cs typeface="Poppins Medium" pitchFamily="34" charset="-12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en-US" sz="4400" dirty="0"/>
              <a:t>Top Sales Rep By Revenue</a:t>
            </a:r>
            <a:endParaRPr lang="en-US" sz="4400" dirty="0">
              <a:sym typeface="TT Hoves Bold"/>
            </a:endParaRPr>
          </a:p>
        </p:txBody>
      </p:sp>
      <p:pic>
        <p:nvPicPr>
          <p:cNvPr id="5" name="Picture 4">
            <a:extLst>
              <a:ext uri="{FF2B5EF4-FFF2-40B4-BE49-F238E27FC236}">
                <a16:creationId xmlns:a16="http://schemas.microsoft.com/office/drawing/2014/main" id="{FDEC5962-2511-8031-38E7-E680CECC210B}"/>
              </a:ext>
            </a:extLst>
          </p:cNvPr>
          <p:cNvPicPr>
            <a:picLocks noChangeAspect="1"/>
          </p:cNvPicPr>
          <p:nvPr/>
        </p:nvPicPr>
        <p:blipFill>
          <a:blip r:embed="rId3"/>
          <a:stretch>
            <a:fillRect/>
          </a:stretch>
        </p:blipFill>
        <p:spPr>
          <a:xfrm>
            <a:off x="1977655" y="1068899"/>
            <a:ext cx="14124359" cy="8484869"/>
          </a:xfrm>
          <a:prstGeom prst="rect">
            <a:avLst/>
          </a:prstGeom>
        </p:spPr>
      </p:pic>
    </p:spTree>
    <p:extLst>
      <p:ext uri="{BB962C8B-B14F-4D97-AF65-F5344CB8AC3E}">
        <p14:creationId xmlns:p14="http://schemas.microsoft.com/office/powerpoint/2010/main" val="11815895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a:extLst>
            <a:ext uri="{FF2B5EF4-FFF2-40B4-BE49-F238E27FC236}">
              <a16:creationId xmlns:a16="http://schemas.microsoft.com/office/drawing/2014/main" id="{FB058EB2-1C2A-6CA2-689B-CFE6264AF6EB}"/>
            </a:ext>
          </a:extLst>
        </p:cNvPr>
        <p:cNvGrpSpPr/>
        <p:nvPr/>
      </p:nvGrpSpPr>
      <p:grpSpPr>
        <a:xfrm>
          <a:off x="0" y="0"/>
          <a:ext cx="0" cy="0"/>
          <a:chOff x="0" y="0"/>
          <a:chExt cx="0" cy="0"/>
        </a:xfrm>
      </p:grpSpPr>
      <p:sp>
        <p:nvSpPr>
          <p:cNvPr id="2" name="name_02">
            <a:extLst>
              <a:ext uri="{FF2B5EF4-FFF2-40B4-BE49-F238E27FC236}">
                <a16:creationId xmlns:a16="http://schemas.microsoft.com/office/drawing/2014/main" id="{2BD2FEFE-102F-3A05-31AC-3F1C490D26D9}"/>
              </a:ext>
            </a:extLst>
          </p:cNvPr>
          <p:cNvSpPr/>
          <p:nvPr/>
        </p:nvSpPr>
        <p:spPr>
          <a:xfrm rot="-600">
            <a:off x="276454" y="9683928"/>
            <a:ext cx="2615601" cy="610326"/>
          </a:xfrm>
          <a:prstGeom prst="rect">
            <a:avLst/>
          </a:prstGeom>
          <a:noFill/>
          <a:ln/>
        </p:spPr>
        <p:txBody>
          <a:bodyPr wrap="square" lIns="0" tIns="0" rIns="0" bIns="0" rtlCol="0" anchor="t"/>
          <a:lstStyle/>
          <a:p>
            <a:pPr marL="0" indent="0" algn="ctr">
              <a:lnSpc>
                <a:spcPts val="3600"/>
              </a:lnSpc>
              <a:buNone/>
            </a:pPr>
            <a:r>
              <a:rPr lang="en-US" sz="2400" kern="0" spc="-75" dirty="0">
                <a:solidFill>
                  <a:srgbClr val="007AF2"/>
                </a:solidFill>
                <a:latin typeface="Poppins Medium" pitchFamily="34" charset="0"/>
                <a:cs typeface="Poppins Medium" pitchFamily="34" charset="-120"/>
              </a:rPr>
              <a:t>PARCH &amp; POSEY</a:t>
            </a:r>
            <a:endParaRPr lang="en-US" sz="2400" dirty="0"/>
          </a:p>
        </p:txBody>
      </p:sp>
      <p:sp>
        <p:nvSpPr>
          <p:cNvPr id="3" name="TextBox 6">
            <a:extLst>
              <a:ext uri="{FF2B5EF4-FFF2-40B4-BE49-F238E27FC236}">
                <a16:creationId xmlns:a16="http://schemas.microsoft.com/office/drawing/2014/main" id="{422D1BA9-090C-2888-D6FE-8DF07F595522}"/>
              </a:ext>
            </a:extLst>
          </p:cNvPr>
          <p:cNvSpPr txBox="1"/>
          <p:nvPr/>
        </p:nvSpPr>
        <p:spPr>
          <a:xfrm>
            <a:off x="0" y="215065"/>
            <a:ext cx="18287999" cy="1443614"/>
          </a:xfrm>
          <a:prstGeom prst="rect">
            <a:avLst/>
          </a:prstGeom>
          <a:noFill/>
          <a:ln/>
        </p:spPr>
        <p:txBody>
          <a:bodyPr wrap="square" lIns="0" tIns="0" rIns="0" bIns="0" rtlCol="0" anchor="t"/>
          <a:lstStyle>
            <a:defPPr>
              <a:defRPr lang="en-US"/>
            </a:defPPr>
            <a:lvl1pPr indent="0" algn="ctr">
              <a:lnSpc>
                <a:spcPts val="3600"/>
              </a:lnSpc>
              <a:buNone/>
              <a:defRPr sz="2400" kern="0" spc="-75">
                <a:solidFill>
                  <a:srgbClr val="007AF2"/>
                </a:solidFill>
                <a:latin typeface="Poppins Medium" pitchFamily="34" charset="0"/>
                <a:cs typeface="Poppins Medium" pitchFamily="34" charset="-12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en-US" sz="4400" dirty="0"/>
              <a:t>Yearly Growth of Revenue</a:t>
            </a:r>
            <a:endParaRPr lang="en-US" sz="4400" dirty="0">
              <a:sym typeface="TT Hoves Bold"/>
            </a:endParaRPr>
          </a:p>
        </p:txBody>
      </p:sp>
      <p:pic>
        <p:nvPicPr>
          <p:cNvPr id="5" name="Picture 4">
            <a:extLst>
              <a:ext uri="{FF2B5EF4-FFF2-40B4-BE49-F238E27FC236}">
                <a16:creationId xmlns:a16="http://schemas.microsoft.com/office/drawing/2014/main" id="{5CFD38A1-D446-1C75-C186-F58E125E78E6}"/>
              </a:ext>
            </a:extLst>
          </p:cNvPr>
          <p:cNvPicPr>
            <a:picLocks noChangeAspect="1"/>
          </p:cNvPicPr>
          <p:nvPr/>
        </p:nvPicPr>
        <p:blipFill>
          <a:blip r:embed="rId3"/>
          <a:stretch>
            <a:fillRect/>
          </a:stretch>
        </p:blipFill>
        <p:spPr>
          <a:xfrm>
            <a:off x="2018052" y="1000667"/>
            <a:ext cx="14124303" cy="8484835"/>
          </a:xfrm>
          <a:prstGeom prst="rect">
            <a:avLst/>
          </a:prstGeom>
        </p:spPr>
      </p:pic>
    </p:spTree>
    <p:extLst>
      <p:ext uri="{BB962C8B-B14F-4D97-AF65-F5344CB8AC3E}">
        <p14:creationId xmlns:p14="http://schemas.microsoft.com/office/powerpoint/2010/main" val="11662360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a:extLst>
            <a:ext uri="{FF2B5EF4-FFF2-40B4-BE49-F238E27FC236}">
              <a16:creationId xmlns:a16="http://schemas.microsoft.com/office/drawing/2014/main" id="{55C3EF89-384C-4E66-1306-9E3F08617A59}"/>
            </a:ext>
          </a:extLst>
        </p:cNvPr>
        <p:cNvGrpSpPr/>
        <p:nvPr/>
      </p:nvGrpSpPr>
      <p:grpSpPr>
        <a:xfrm>
          <a:off x="0" y="0"/>
          <a:ext cx="0" cy="0"/>
          <a:chOff x="0" y="0"/>
          <a:chExt cx="0" cy="0"/>
        </a:xfrm>
      </p:grpSpPr>
      <p:sp>
        <p:nvSpPr>
          <p:cNvPr id="2" name="name_02">
            <a:extLst>
              <a:ext uri="{FF2B5EF4-FFF2-40B4-BE49-F238E27FC236}">
                <a16:creationId xmlns:a16="http://schemas.microsoft.com/office/drawing/2014/main" id="{5FBA9431-6148-B30D-7B37-8BE733AC56D9}"/>
              </a:ext>
            </a:extLst>
          </p:cNvPr>
          <p:cNvSpPr/>
          <p:nvPr/>
        </p:nvSpPr>
        <p:spPr>
          <a:xfrm rot="-600">
            <a:off x="276454" y="9683928"/>
            <a:ext cx="2615601" cy="610326"/>
          </a:xfrm>
          <a:prstGeom prst="rect">
            <a:avLst/>
          </a:prstGeom>
          <a:noFill/>
          <a:ln/>
        </p:spPr>
        <p:txBody>
          <a:bodyPr wrap="square" lIns="0" tIns="0" rIns="0" bIns="0" rtlCol="0" anchor="t"/>
          <a:lstStyle/>
          <a:p>
            <a:pPr marL="0" indent="0" algn="ctr">
              <a:lnSpc>
                <a:spcPts val="3600"/>
              </a:lnSpc>
              <a:buNone/>
            </a:pPr>
            <a:r>
              <a:rPr lang="en-US" sz="2400" kern="0" spc="-75" dirty="0">
                <a:solidFill>
                  <a:srgbClr val="007AF2"/>
                </a:solidFill>
                <a:latin typeface="Poppins Medium" pitchFamily="34" charset="0"/>
                <a:cs typeface="Poppins Medium" pitchFamily="34" charset="-120"/>
              </a:rPr>
              <a:t>PARCH &amp; POSEY</a:t>
            </a:r>
            <a:endParaRPr lang="en-US" sz="2400" dirty="0"/>
          </a:p>
        </p:txBody>
      </p:sp>
      <p:sp>
        <p:nvSpPr>
          <p:cNvPr id="3" name="TextBox 6">
            <a:extLst>
              <a:ext uri="{FF2B5EF4-FFF2-40B4-BE49-F238E27FC236}">
                <a16:creationId xmlns:a16="http://schemas.microsoft.com/office/drawing/2014/main" id="{9D842185-0FD3-FFE2-EBC5-49ACE052A475}"/>
              </a:ext>
            </a:extLst>
          </p:cNvPr>
          <p:cNvSpPr txBox="1"/>
          <p:nvPr/>
        </p:nvSpPr>
        <p:spPr>
          <a:xfrm>
            <a:off x="0" y="215065"/>
            <a:ext cx="18287999" cy="1443614"/>
          </a:xfrm>
          <a:prstGeom prst="rect">
            <a:avLst/>
          </a:prstGeom>
          <a:noFill/>
          <a:ln/>
        </p:spPr>
        <p:txBody>
          <a:bodyPr wrap="square" lIns="0" tIns="0" rIns="0" bIns="0" rtlCol="0" anchor="t"/>
          <a:lstStyle>
            <a:defPPr>
              <a:defRPr lang="en-US"/>
            </a:defPPr>
            <a:lvl1pPr indent="0" algn="ctr">
              <a:lnSpc>
                <a:spcPts val="3600"/>
              </a:lnSpc>
              <a:buNone/>
              <a:defRPr sz="2400" kern="0" spc="-75">
                <a:solidFill>
                  <a:srgbClr val="007AF2"/>
                </a:solidFill>
                <a:latin typeface="Poppins Medium" pitchFamily="34" charset="0"/>
                <a:cs typeface="Poppins Medium" pitchFamily="34" charset="-12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en-US" sz="4400" dirty="0"/>
              <a:t>Accounts in Regions With High Order Quantities</a:t>
            </a:r>
            <a:endParaRPr lang="en-US" sz="4400" dirty="0">
              <a:sym typeface="TT Hoves Bold"/>
            </a:endParaRPr>
          </a:p>
        </p:txBody>
      </p:sp>
      <p:pic>
        <p:nvPicPr>
          <p:cNvPr id="5" name="Picture 4">
            <a:extLst>
              <a:ext uri="{FF2B5EF4-FFF2-40B4-BE49-F238E27FC236}">
                <a16:creationId xmlns:a16="http://schemas.microsoft.com/office/drawing/2014/main" id="{C81D1060-DDA0-B9F4-69B2-6654E9AC1308}"/>
              </a:ext>
            </a:extLst>
          </p:cNvPr>
          <p:cNvPicPr>
            <a:picLocks noChangeAspect="1"/>
          </p:cNvPicPr>
          <p:nvPr/>
        </p:nvPicPr>
        <p:blipFill>
          <a:blip r:embed="rId3"/>
          <a:stretch>
            <a:fillRect/>
          </a:stretch>
        </p:blipFill>
        <p:spPr>
          <a:xfrm>
            <a:off x="276400" y="936872"/>
            <a:ext cx="17352335" cy="8676168"/>
          </a:xfrm>
          <a:prstGeom prst="rect">
            <a:avLst/>
          </a:prstGeom>
        </p:spPr>
      </p:pic>
    </p:spTree>
    <p:extLst>
      <p:ext uri="{BB962C8B-B14F-4D97-AF65-F5344CB8AC3E}">
        <p14:creationId xmlns:p14="http://schemas.microsoft.com/office/powerpoint/2010/main" val="27048425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a:extLst>
            <a:ext uri="{FF2B5EF4-FFF2-40B4-BE49-F238E27FC236}">
              <a16:creationId xmlns:a16="http://schemas.microsoft.com/office/drawing/2014/main" id="{495F8731-130C-3E46-B04F-4FEC22A7DA79}"/>
            </a:ext>
          </a:extLst>
        </p:cNvPr>
        <p:cNvGrpSpPr/>
        <p:nvPr/>
      </p:nvGrpSpPr>
      <p:grpSpPr>
        <a:xfrm>
          <a:off x="0" y="0"/>
          <a:ext cx="0" cy="0"/>
          <a:chOff x="0" y="0"/>
          <a:chExt cx="0" cy="0"/>
        </a:xfrm>
      </p:grpSpPr>
      <p:sp>
        <p:nvSpPr>
          <p:cNvPr id="2" name="name_02">
            <a:extLst>
              <a:ext uri="{FF2B5EF4-FFF2-40B4-BE49-F238E27FC236}">
                <a16:creationId xmlns:a16="http://schemas.microsoft.com/office/drawing/2014/main" id="{36E2A827-183F-021D-B2F7-3F15E9562E9B}"/>
              </a:ext>
            </a:extLst>
          </p:cNvPr>
          <p:cNvSpPr/>
          <p:nvPr/>
        </p:nvSpPr>
        <p:spPr>
          <a:xfrm rot="-600">
            <a:off x="276454" y="9683928"/>
            <a:ext cx="2615601" cy="610326"/>
          </a:xfrm>
          <a:prstGeom prst="rect">
            <a:avLst/>
          </a:prstGeom>
          <a:noFill/>
          <a:ln/>
        </p:spPr>
        <p:txBody>
          <a:bodyPr wrap="square" lIns="0" tIns="0" rIns="0" bIns="0" rtlCol="0" anchor="t"/>
          <a:lstStyle/>
          <a:p>
            <a:pPr marL="0" indent="0" algn="ctr">
              <a:lnSpc>
                <a:spcPts val="3600"/>
              </a:lnSpc>
              <a:buNone/>
            </a:pPr>
            <a:r>
              <a:rPr lang="en-US" sz="2400" kern="0" spc="-75" dirty="0">
                <a:solidFill>
                  <a:srgbClr val="007AF2"/>
                </a:solidFill>
                <a:latin typeface="Poppins Medium" pitchFamily="34" charset="0"/>
                <a:cs typeface="Poppins Medium" pitchFamily="34" charset="-120"/>
              </a:rPr>
              <a:t>PARCH &amp; POSEY</a:t>
            </a:r>
            <a:endParaRPr lang="en-US" sz="2400" dirty="0"/>
          </a:p>
        </p:txBody>
      </p:sp>
      <p:sp>
        <p:nvSpPr>
          <p:cNvPr id="3" name="TextBox 6">
            <a:extLst>
              <a:ext uri="{FF2B5EF4-FFF2-40B4-BE49-F238E27FC236}">
                <a16:creationId xmlns:a16="http://schemas.microsoft.com/office/drawing/2014/main" id="{8654B78D-B0AF-117E-81C7-024D3237BE1F}"/>
              </a:ext>
            </a:extLst>
          </p:cNvPr>
          <p:cNvSpPr txBox="1"/>
          <p:nvPr/>
        </p:nvSpPr>
        <p:spPr>
          <a:xfrm>
            <a:off x="0" y="215065"/>
            <a:ext cx="18287999" cy="1443614"/>
          </a:xfrm>
          <a:prstGeom prst="rect">
            <a:avLst/>
          </a:prstGeom>
          <a:noFill/>
          <a:ln/>
        </p:spPr>
        <p:txBody>
          <a:bodyPr wrap="square" lIns="0" tIns="0" rIns="0" bIns="0" rtlCol="0" anchor="t"/>
          <a:lstStyle>
            <a:defPPr>
              <a:defRPr lang="en-US"/>
            </a:defPPr>
            <a:lvl1pPr indent="0" algn="ctr">
              <a:lnSpc>
                <a:spcPts val="3600"/>
              </a:lnSpc>
              <a:buNone/>
              <a:defRPr sz="2400" kern="0" spc="-75">
                <a:solidFill>
                  <a:srgbClr val="007AF2"/>
                </a:solidFill>
                <a:latin typeface="Poppins Medium" pitchFamily="34" charset="0"/>
                <a:cs typeface="Poppins Medium" pitchFamily="34" charset="-12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en-US" sz="4400" dirty="0"/>
              <a:t>Orders with High Quantity</a:t>
            </a:r>
            <a:endParaRPr lang="en-US" sz="4400" dirty="0">
              <a:sym typeface="TT Hoves Bold"/>
            </a:endParaRPr>
          </a:p>
        </p:txBody>
      </p:sp>
      <p:pic>
        <p:nvPicPr>
          <p:cNvPr id="5" name="Picture 4">
            <a:extLst>
              <a:ext uri="{FF2B5EF4-FFF2-40B4-BE49-F238E27FC236}">
                <a16:creationId xmlns:a16="http://schemas.microsoft.com/office/drawing/2014/main" id="{4A03BFC1-9E7D-D1BB-53DE-7F6D74D6E4AA}"/>
              </a:ext>
            </a:extLst>
          </p:cNvPr>
          <p:cNvPicPr>
            <a:picLocks noChangeAspect="1"/>
          </p:cNvPicPr>
          <p:nvPr/>
        </p:nvPicPr>
        <p:blipFill>
          <a:blip r:embed="rId3"/>
          <a:stretch>
            <a:fillRect/>
          </a:stretch>
        </p:blipFill>
        <p:spPr>
          <a:xfrm>
            <a:off x="2305137" y="1008738"/>
            <a:ext cx="13677724" cy="8548577"/>
          </a:xfrm>
          <a:prstGeom prst="rect">
            <a:avLst/>
          </a:prstGeom>
        </p:spPr>
      </p:pic>
    </p:spTree>
    <p:extLst>
      <p:ext uri="{BB962C8B-B14F-4D97-AF65-F5344CB8AC3E}">
        <p14:creationId xmlns:p14="http://schemas.microsoft.com/office/powerpoint/2010/main" val="33614063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a:extLst>
            <a:ext uri="{FF2B5EF4-FFF2-40B4-BE49-F238E27FC236}">
              <a16:creationId xmlns:a16="http://schemas.microsoft.com/office/drawing/2014/main" id="{A5BA7DD3-39A8-9605-E084-4C4EC6CE73E7}"/>
            </a:ext>
          </a:extLst>
        </p:cNvPr>
        <p:cNvGrpSpPr/>
        <p:nvPr/>
      </p:nvGrpSpPr>
      <p:grpSpPr>
        <a:xfrm>
          <a:off x="0" y="0"/>
          <a:ext cx="0" cy="0"/>
          <a:chOff x="0" y="0"/>
          <a:chExt cx="0" cy="0"/>
        </a:xfrm>
      </p:grpSpPr>
      <p:sp>
        <p:nvSpPr>
          <p:cNvPr id="2" name="name_02">
            <a:extLst>
              <a:ext uri="{FF2B5EF4-FFF2-40B4-BE49-F238E27FC236}">
                <a16:creationId xmlns:a16="http://schemas.microsoft.com/office/drawing/2014/main" id="{3A0D83ED-636D-B39C-8B24-92FBBB1A2A68}"/>
              </a:ext>
            </a:extLst>
          </p:cNvPr>
          <p:cNvSpPr/>
          <p:nvPr/>
        </p:nvSpPr>
        <p:spPr>
          <a:xfrm rot="-600">
            <a:off x="276454" y="9683928"/>
            <a:ext cx="2615601" cy="610326"/>
          </a:xfrm>
          <a:prstGeom prst="rect">
            <a:avLst/>
          </a:prstGeom>
          <a:noFill/>
          <a:ln/>
        </p:spPr>
        <p:txBody>
          <a:bodyPr wrap="square" lIns="0" tIns="0" rIns="0" bIns="0" rtlCol="0" anchor="t"/>
          <a:lstStyle/>
          <a:p>
            <a:pPr marL="0" indent="0" algn="ctr">
              <a:lnSpc>
                <a:spcPts val="3600"/>
              </a:lnSpc>
              <a:buNone/>
            </a:pPr>
            <a:r>
              <a:rPr lang="en-US" sz="2400" kern="0" spc="-75" dirty="0">
                <a:solidFill>
                  <a:srgbClr val="007AF2"/>
                </a:solidFill>
                <a:latin typeface="Poppins Medium" pitchFamily="34" charset="0"/>
                <a:cs typeface="Poppins Medium" pitchFamily="34" charset="-120"/>
              </a:rPr>
              <a:t>PARCH &amp; POSEY</a:t>
            </a:r>
            <a:endParaRPr lang="en-US" sz="2400" dirty="0"/>
          </a:p>
        </p:txBody>
      </p:sp>
      <p:sp>
        <p:nvSpPr>
          <p:cNvPr id="3" name="Freeform 2">
            <a:extLst>
              <a:ext uri="{FF2B5EF4-FFF2-40B4-BE49-F238E27FC236}">
                <a16:creationId xmlns:a16="http://schemas.microsoft.com/office/drawing/2014/main" id="{81B796C2-B133-FEAC-7162-132888FD66AD}"/>
              </a:ext>
            </a:extLst>
          </p:cNvPr>
          <p:cNvSpPr/>
          <p:nvPr/>
        </p:nvSpPr>
        <p:spPr>
          <a:xfrm>
            <a:off x="13810618" y="0"/>
            <a:ext cx="4477382" cy="10287000"/>
          </a:xfrm>
          <a:custGeom>
            <a:avLst/>
            <a:gdLst/>
            <a:ahLst/>
            <a:cxnLst/>
            <a:rect l="l" t="t" r="r" b="b"/>
            <a:pathLst>
              <a:path w="4477382" h="10287000">
                <a:moveTo>
                  <a:pt x="0" y="0"/>
                </a:moveTo>
                <a:lnTo>
                  <a:pt x="4477382" y="0"/>
                </a:lnTo>
                <a:lnTo>
                  <a:pt x="4477382" y="10287000"/>
                </a:lnTo>
                <a:lnTo>
                  <a:pt x="0" y="10287000"/>
                </a:lnTo>
                <a:lnTo>
                  <a:pt x="0" y="0"/>
                </a:lnTo>
                <a:close/>
              </a:path>
            </a:pathLst>
          </a:custGeom>
          <a:blipFill>
            <a:blip r:embed="rId3"/>
            <a:stretch>
              <a:fillRect l="-122423" r="-122423"/>
            </a:stretch>
          </a:blipFill>
        </p:spPr>
        <p:txBody>
          <a:bodyPr/>
          <a:lstStyle/>
          <a:p>
            <a:endParaRPr lang="en-US"/>
          </a:p>
        </p:txBody>
      </p:sp>
      <p:sp>
        <p:nvSpPr>
          <p:cNvPr id="5" name="TextBox 6">
            <a:extLst>
              <a:ext uri="{FF2B5EF4-FFF2-40B4-BE49-F238E27FC236}">
                <a16:creationId xmlns:a16="http://schemas.microsoft.com/office/drawing/2014/main" id="{CA574BBD-749F-4AF5-EAFF-0664EB6D5592}"/>
              </a:ext>
            </a:extLst>
          </p:cNvPr>
          <p:cNvSpPr txBox="1"/>
          <p:nvPr/>
        </p:nvSpPr>
        <p:spPr>
          <a:xfrm>
            <a:off x="0" y="290734"/>
            <a:ext cx="13810618" cy="815052"/>
          </a:xfrm>
          <a:prstGeom prst="rect">
            <a:avLst/>
          </a:prstGeom>
          <a:noFill/>
          <a:ln/>
        </p:spPr>
        <p:txBody>
          <a:bodyPr wrap="square" lIns="0" tIns="0" rIns="0" bIns="0" rtlCol="0" anchor="t"/>
          <a:lstStyle>
            <a:defPPr>
              <a:defRPr lang="en-US"/>
            </a:defPPr>
            <a:lvl1pPr indent="0" algn="ctr">
              <a:lnSpc>
                <a:spcPts val="3600"/>
              </a:lnSpc>
              <a:buNone/>
              <a:defRPr sz="2400" kern="0" spc="-75">
                <a:solidFill>
                  <a:srgbClr val="007AF2"/>
                </a:solidFill>
                <a:latin typeface="Poppins Medium" pitchFamily="34" charset="0"/>
                <a:cs typeface="Poppins Medium" pitchFamily="34" charset="-12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en-US" sz="4400">
                <a:sym typeface="TT Hoves Bold"/>
              </a:rPr>
              <a:t>Summary</a:t>
            </a:r>
            <a:endParaRPr lang="en-US" sz="4400" dirty="0">
              <a:sym typeface="TT Hoves Bold"/>
            </a:endParaRPr>
          </a:p>
        </p:txBody>
      </p:sp>
      <p:sp>
        <p:nvSpPr>
          <p:cNvPr id="6" name="TextBox 5">
            <a:extLst>
              <a:ext uri="{FF2B5EF4-FFF2-40B4-BE49-F238E27FC236}">
                <a16:creationId xmlns:a16="http://schemas.microsoft.com/office/drawing/2014/main" id="{9232588B-1860-6E9C-5E61-EB4C3D093E2C}"/>
              </a:ext>
            </a:extLst>
          </p:cNvPr>
          <p:cNvSpPr txBox="1"/>
          <p:nvPr/>
        </p:nvSpPr>
        <p:spPr>
          <a:xfrm>
            <a:off x="350873" y="1396519"/>
            <a:ext cx="13109945" cy="7963398"/>
          </a:xfrm>
          <a:prstGeom prst="rect">
            <a:avLst/>
          </a:prstGeom>
        </p:spPr>
        <p:txBody>
          <a:bodyPr wrap="square" lIns="0" tIns="0" rIns="0" bIns="0" rtlCol="0" anchor="t">
            <a:spAutoFit/>
          </a:bodyPr>
          <a:lstStyle>
            <a:lvl1pPr>
              <a:lnSpc>
                <a:spcPts val="4759"/>
              </a:lnSpc>
              <a:defRPr sz="3399">
                <a:solidFill>
                  <a:srgbClr val="2A2E3A"/>
                </a:solidFill>
                <a:latin typeface="Helios"/>
                <a:ea typeface="Helios"/>
                <a:cs typeface="Helios"/>
              </a:defRPr>
            </a:lvl1pPr>
          </a:lstStyle>
          <a:p>
            <a:r>
              <a:rPr lang="en-US" dirty="0"/>
              <a:t>Our analysis of the Parch &amp; Posey database revealed the company’s top revenue-generating accounts and the sales reps driving the most value. We identified the leading customer acquisition channels and how they vary across regions, highlighting opportunities to optimize marketing spend. Regional analysis showed differences in sales performance, revenue contribution, and order volumes, with some regions consistently outperforming others. At the company level, we compared sales across accounts, uncovering high-order customers and top-revenue contributors. Web events by channel gave visibility into customer engagement and traffic sources, while yearly revenue trends confirmed steady growth over time. Overall, these insights provide a clearer picture of where the business earns the most value and where strategic improvements can drive further growth.</a:t>
            </a:r>
          </a:p>
        </p:txBody>
      </p:sp>
    </p:spTree>
    <p:extLst>
      <p:ext uri="{BB962C8B-B14F-4D97-AF65-F5344CB8AC3E}">
        <p14:creationId xmlns:p14="http://schemas.microsoft.com/office/powerpoint/2010/main" val="29842862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3737</TotalTime>
  <Words>324</Words>
  <Application>Microsoft Office PowerPoint</Application>
  <PresentationFormat>Custom</PresentationFormat>
  <Paragraphs>53</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Avenir Next Medium</vt:lpstr>
      <vt:lpstr>Avenir Next Regular</vt:lpstr>
      <vt:lpstr>Poppins Medium</vt:lpstr>
      <vt:lpstr>TT Hoves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Oluwakayode Ojo</cp:lastModifiedBy>
  <cp:revision>10</cp:revision>
  <dcterms:created xsi:type="dcterms:W3CDTF">2025-09-05T20:21:13Z</dcterms:created>
  <dcterms:modified xsi:type="dcterms:W3CDTF">2025-09-14T23:13:49Z</dcterms:modified>
</cp:coreProperties>
</file>